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2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DD62DE-B5DA-49EB-B5EF-8D8341D8994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B6F706-22D8-42F5-8348-CAAC277B580F}">
      <dgm:prSet/>
      <dgm:spPr/>
      <dgm:t>
        <a:bodyPr/>
        <a:lstStyle/>
        <a:p>
          <a:r>
            <a:rPr lang="en-SG"/>
            <a:t>Our Project mimic  a production-grade AWS infrastructure system that demonstrates Site Reliability Engineering practices through automated deployment, multi-environment management, and comprehensive observability. </a:t>
          </a:r>
          <a:endParaRPr lang="en-US"/>
        </a:p>
      </dgm:t>
    </dgm:pt>
    <dgm:pt modelId="{28C09BA8-FFA3-4B74-89F8-693095259E56}" type="parTrans" cxnId="{BF472949-30C8-460F-A677-4DA4F8412519}">
      <dgm:prSet/>
      <dgm:spPr/>
      <dgm:t>
        <a:bodyPr/>
        <a:lstStyle/>
        <a:p>
          <a:endParaRPr lang="en-US"/>
        </a:p>
      </dgm:t>
    </dgm:pt>
    <dgm:pt modelId="{B1FBE8FD-BA4E-4269-B7D1-E129EF89A5FE}" type="sibTrans" cxnId="{BF472949-30C8-460F-A677-4DA4F8412519}">
      <dgm:prSet/>
      <dgm:spPr/>
      <dgm:t>
        <a:bodyPr/>
        <a:lstStyle/>
        <a:p>
          <a:endParaRPr lang="en-US"/>
        </a:p>
      </dgm:t>
    </dgm:pt>
    <dgm:pt modelId="{010189FC-7708-4B5B-A8F3-C2058F31D57E}">
      <dgm:prSet/>
      <dgm:spPr/>
      <dgm:t>
        <a:bodyPr/>
        <a:lstStyle/>
        <a:p>
          <a:r>
            <a:rPr lang="en-SG"/>
            <a:t>The project implements a complete infrastructure-as-code solution using Terraform, with continuous deployment via GitHub Actions and a monitoring stack based on Prometheus and Grafana.</a:t>
          </a:r>
          <a:endParaRPr lang="en-US"/>
        </a:p>
      </dgm:t>
    </dgm:pt>
    <dgm:pt modelId="{B2ABA3A5-887F-432E-802D-5298B087DBCA}" type="parTrans" cxnId="{C65CA20D-ABD8-47FD-BD81-699B651DE434}">
      <dgm:prSet/>
      <dgm:spPr/>
      <dgm:t>
        <a:bodyPr/>
        <a:lstStyle/>
        <a:p>
          <a:endParaRPr lang="en-US"/>
        </a:p>
      </dgm:t>
    </dgm:pt>
    <dgm:pt modelId="{F5067299-0454-4801-833A-E7C60A2D32EA}" type="sibTrans" cxnId="{C65CA20D-ABD8-47FD-BD81-699B651DE434}">
      <dgm:prSet/>
      <dgm:spPr/>
      <dgm:t>
        <a:bodyPr/>
        <a:lstStyle/>
        <a:p>
          <a:endParaRPr lang="en-US"/>
        </a:p>
      </dgm:t>
    </dgm:pt>
    <dgm:pt modelId="{FFFD8724-9C1A-114A-AEE8-222494C5E67F}" type="pres">
      <dgm:prSet presAssocID="{9BDD62DE-B5DA-49EB-B5EF-8D8341D899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21AF393-AD8B-9944-B88E-076F0C0E3D4A}" type="pres">
      <dgm:prSet presAssocID="{50B6F706-22D8-42F5-8348-CAAC277B580F}" presName="hierRoot1" presStyleCnt="0"/>
      <dgm:spPr/>
    </dgm:pt>
    <dgm:pt modelId="{03B64251-792E-3B4F-AB79-3E95FDBD65F4}" type="pres">
      <dgm:prSet presAssocID="{50B6F706-22D8-42F5-8348-CAAC277B580F}" presName="composite" presStyleCnt="0"/>
      <dgm:spPr/>
    </dgm:pt>
    <dgm:pt modelId="{E71F5FA3-A052-2A4A-9DC0-5A10F4642388}" type="pres">
      <dgm:prSet presAssocID="{50B6F706-22D8-42F5-8348-CAAC277B580F}" presName="background" presStyleLbl="node0" presStyleIdx="0" presStyleCnt="2"/>
      <dgm:spPr/>
    </dgm:pt>
    <dgm:pt modelId="{AAC64C3C-8D22-D84D-9AA5-294663426F2F}" type="pres">
      <dgm:prSet presAssocID="{50B6F706-22D8-42F5-8348-CAAC277B580F}" presName="text" presStyleLbl="fgAcc0" presStyleIdx="0" presStyleCnt="2">
        <dgm:presLayoutVars>
          <dgm:chPref val="3"/>
        </dgm:presLayoutVars>
      </dgm:prSet>
      <dgm:spPr/>
    </dgm:pt>
    <dgm:pt modelId="{78221CD5-79D9-8642-92BF-E3A80DBAC44F}" type="pres">
      <dgm:prSet presAssocID="{50B6F706-22D8-42F5-8348-CAAC277B580F}" presName="hierChild2" presStyleCnt="0"/>
      <dgm:spPr/>
    </dgm:pt>
    <dgm:pt modelId="{6C3D664D-8E43-DA46-8AD6-F2D80F679654}" type="pres">
      <dgm:prSet presAssocID="{010189FC-7708-4B5B-A8F3-C2058F31D57E}" presName="hierRoot1" presStyleCnt="0"/>
      <dgm:spPr/>
    </dgm:pt>
    <dgm:pt modelId="{A497959D-6DDA-3A4A-992B-907A3031C122}" type="pres">
      <dgm:prSet presAssocID="{010189FC-7708-4B5B-A8F3-C2058F31D57E}" presName="composite" presStyleCnt="0"/>
      <dgm:spPr/>
    </dgm:pt>
    <dgm:pt modelId="{975E8046-29D3-C742-B7CD-E98210958B6E}" type="pres">
      <dgm:prSet presAssocID="{010189FC-7708-4B5B-A8F3-C2058F31D57E}" presName="background" presStyleLbl="node0" presStyleIdx="1" presStyleCnt="2"/>
      <dgm:spPr/>
    </dgm:pt>
    <dgm:pt modelId="{AD7F066D-3264-7240-A3B9-AA9134E9EED8}" type="pres">
      <dgm:prSet presAssocID="{010189FC-7708-4B5B-A8F3-C2058F31D57E}" presName="text" presStyleLbl="fgAcc0" presStyleIdx="1" presStyleCnt="2">
        <dgm:presLayoutVars>
          <dgm:chPref val="3"/>
        </dgm:presLayoutVars>
      </dgm:prSet>
      <dgm:spPr/>
    </dgm:pt>
    <dgm:pt modelId="{645B7970-52DE-D144-80D2-95F073AC6024}" type="pres">
      <dgm:prSet presAssocID="{010189FC-7708-4B5B-A8F3-C2058F31D57E}" presName="hierChild2" presStyleCnt="0"/>
      <dgm:spPr/>
    </dgm:pt>
  </dgm:ptLst>
  <dgm:cxnLst>
    <dgm:cxn modelId="{C65CA20D-ABD8-47FD-BD81-699B651DE434}" srcId="{9BDD62DE-B5DA-49EB-B5EF-8D8341D8994D}" destId="{010189FC-7708-4B5B-A8F3-C2058F31D57E}" srcOrd="1" destOrd="0" parTransId="{B2ABA3A5-887F-432E-802D-5298B087DBCA}" sibTransId="{F5067299-0454-4801-833A-E7C60A2D32EA}"/>
    <dgm:cxn modelId="{4B300516-9736-B340-8DB9-61BF08702C54}" type="presOf" srcId="{50B6F706-22D8-42F5-8348-CAAC277B580F}" destId="{AAC64C3C-8D22-D84D-9AA5-294663426F2F}" srcOrd="0" destOrd="0" presId="urn:microsoft.com/office/officeart/2005/8/layout/hierarchy1"/>
    <dgm:cxn modelId="{BF472949-30C8-460F-A677-4DA4F8412519}" srcId="{9BDD62DE-B5DA-49EB-B5EF-8D8341D8994D}" destId="{50B6F706-22D8-42F5-8348-CAAC277B580F}" srcOrd="0" destOrd="0" parTransId="{28C09BA8-FFA3-4B74-89F8-693095259E56}" sibTransId="{B1FBE8FD-BA4E-4269-B7D1-E129EF89A5FE}"/>
    <dgm:cxn modelId="{0050AE94-E4B3-E946-B3DD-CE1B693B6F37}" type="presOf" srcId="{010189FC-7708-4B5B-A8F3-C2058F31D57E}" destId="{AD7F066D-3264-7240-A3B9-AA9134E9EED8}" srcOrd="0" destOrd="0" presId="urn:microsoft.com/office/officeart/2005/8/layout/hierarchy1"/>
    <dgm:cxn modelId="{CEFCC6D7-D9D3-E442-9F9A-DD7C0EC40D86}" type="presOf" srcId="{9BDD62DE-B5DA-49EB-B5EF-8D8341D8994D}" destId="{FFFD8724-9C1A-114A-AEE8-222494C5E67F}" srcOrd="0" destOrd="0" presId="urn:microsoft.com/office/officeart/2005/8/layout/hierarchy1"/>
    <dgm:cxn modelId="{31EBFBF5-6B56-364C-B63F-4CC447BA2CF3}" type="presParOf" srcId="{FFFD8724-9C1A-114A-AEE8-222494C5E67F}" destId="{D21AF393-AD8B-9944-B88E-076F0C0E3D4A}" srcOrd="0" destOrd="0" presId="urn:microsoft.com/office/officeart/2005/8/layout/hierarchy1"/>
    <dgm:cxn modelId="{3F6A71FA-3DDC-D649-87EC-0C7C15B0335E}" type="presParOf" srcId="{D21AF393-AD8B-9944-B88E-076F0C0E3D4A}" destId="{03B64251-792E-3B4F-AB79-3E95FDBD65F4}" srcOrd="0" destOrd="0" presId="urn:microsoft.com/office/officeart/2005/8/layout/hierarchy1"/>
    <dgm:cxn modelId="{6AABC939-3C0D-F448-8B73-044EF72014B5}" type="presParOf" srcId="{03B64251-792E-3B4F-AB79-3E95FDBD65F4}" destId="{E71F5FA3-A052-2A4A-9DC0-5A10F4642388}" srcOrd="0" destOrd="0" presId="urn:microsoft.com/office/officeart/2005/8/layout/hierarchy1"/>
    <dgm:cxn modelId="{A57621C2-0D59-2244-8F81-6A6573F71F6D}" type="presParOf" srcId="{03B64251-792E-3B4F-AB79-3E95FDBD65F4}" destId="{AAC64C3C-8D22-D84D-9AA5-294663426F2F}" srcOrd="1" destOrd="0" presId="urn:microsoft.com/office/officeart/2005/8/layout/hierarchy1"/>
    <dgm:cxn modelId="{A4D433D2-AE33-9147-8141-349439FFDF5E}" type="presParOf" srcId="{D21AF393-AD8B-9944-B88E-076F0C0E3D4A}" destId="{78221CD5-79D9-8642-92BF-E3A80DBAC44F}" srcOrd="1" destOrd="0" presId="urn:microsoft.com/office/officeart/2005/8/layout/hierarchy1"/>
    <dgm:cxn modelId="{C4994720-E1F1-A548-85FB-1951D277579E}" type="presParOf" srcId="{FFFD8724-9C1A-114A-AEE8-222494C5E67F}" destId="{6C3D664D-8E43-DA46-8AD6-F2D80F679654}" srcOrd="1" destOrd="0" presId="urn:microsoft.com/office/officeart/2005/8/layout/hierarchy1"/>
    <dgm:cxn modelId="{BCD4F8AA-8C24-544B-8EA1-AC45DF6E0278}" type="presParOf" srcId="{6C3D664D-8E43-DA46-8AD6-F2D80F679654}" destId="{A497959D-6DDA-3A4A-992B-907A3031C122}" srcOrd="0" destOrd="0" presId="urn:microsoft.com/office/officeart/2005/8/layout/hierarchy1"/>
    <dgm:cxn modelId="{DE543420-DDFC-1A42-86F2-47C4CEA868E8}" type="presParOf" srcId="{A497959D-6DDA-3A4A-992B-907A3031C122}" destId="{975E8046-29D3-C742-B7CD-E98210958B6E}" srcOrd="0" destOrd="0" presId="urn:microsoft.com/office/officeart/2005/8/layout/hierarchy1"/>
    <dgm:cxn modelId="{C60DE067-C0FC-5B4B-80C1-EB9DD80F92D6}" type="presParOf" srcId="{A497959D-6DDA-3A4A-992B-907A3031C122}" destId="{AD7F066D-3264-7240-A3B9-AA9134E9EED8}" srcOrd="1" destOrd="0" presId="urn:microsoft.com/office/officeart/2005/8/layout/hierarchy1"/>
    <dgm:cxn modelId="{054997C8-6984-1D45-89A5-BA396B712670}" type="presParOf" srcId="{6C3D664D-8E43-DA46-8AD6-F2D80F679654}" destId="{645B7970-52DE-D144-80D2-95F073AC602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440683-F2FB-4E60-A903-B6766A8E02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B71222C-E163-4779-8520-FA729122E084}">
      <dgm:prSet/>
      <dgm:spPr/>
      <dgm:t>
        <a:bodyPr/>
        <a:lstStyle/>
        <a:p>
          <a:r>
            <a:rPr lang="en-SG"/>
            <a:t>The CI/CD pipeline uses GitHub Actions to orchestrate infrastructure deployments across multiple environments (dev, uat, prod) and manage the monitoring stack. </a:t>
          </a:r>
          <a:endParaRPr lang="en-US"/>
        </a:p>
      </dgm:t>
    </dgm:pt>
    <dgm:pt modelId="{32ED43AF-44F5-40F3-8176-05BD1FF46048}" type="parTrans" cxnId="{1314B611-9748-4474-A436-910939A80C25}">
      <dgm:prSet/>
      <dgm:spPr/>
      <dgm:t>
        <a:bodyPr/>
        <a:lstStyle/>
        <a:p>
          <a:endParaRPr lang="en-US"/>
        </a:p>
      </dgm:t>
    </dgm:pt>
    <dgm:pt modelId="{E514FD9A-DE06-47AF-BF29-691BAF76B164}" type="sibTrans" cxnId="{1314B611-9748-4474-A436-910939A80C25}">
      <dgm:prSet/>
      <dgm:spPr/>
      <dgm:t>
        <a:bodyPr/>
        <a:lstStyle/>
        <a:p>
          <a:endParaRPr lang="en-US"/>
        </a:p>
      </dgm:t>
    </dgm:pt>
    <dgm:pt modelId="{1F018114-D686-45CE-83C1-9B6CCB8D72BA}">
      <dgm:prSet/>
      <dgm:spPr/>
      <dgm:t>
        <a:bodyPr/>
        <a:lstStyle/>
        <a:p>
          <a:r>
            <a:rPr lang="en-SG"/>
            <a:t>The pipeline handles authentication via AWS OIDC, executes Terraform workflows, and enforces manual approval gates for production deployments.</a:t>
          </a:r>
          <a:endParaRPr lang="en-US"/>
        </a:p>
      </dgm:t>
    </dgm:pt>
    <dgm:pt modelId="{0117917B-C4D5-4088-8F41-18CF893CFCCA}" type="parTrans" cxnId="{26CFAEB6-2433-4822-A9DD-581FD54F1921}">
      <dgm:prSet/>
      <dgm:spPr/>
      <dgm:t>
        <a:bodyPr/>
        <a:lstStyle/>
        <a:p>
          <a:endParaRPr lang="en-US"/>
        </a:p>
      </dgm:t>
    </dgm:pt>
    <dgm:pt modelId="{9BB5E008-9081-4D70-AFDF-FC06B22538C4}" type="sibTrans" cxnId="{26CFAEB6-2433-4822-A9DD-581FD54F1921}">
      <dgm:prSet/>
      <dgm:spPr/>
      <dgm:t>
        <a:bodyPr/>
        <a:lstStyle/>
        <a:p>
          <a:endParaRPr lang="en-US"/>
        </a:p>
      </dgm:t>
    </dgm:pt>
    <dgm:pt modelId="{29F0586A-C7E0-4092-89D7-2389D1A45815}" type="pres">
      <dgm:prSet presAssocID="{D9440683-F2FB-4E60-A903-B6766A8E0202}" presName="root" presStyleCnt="0">
        <dgm:presLayoutVars>
          <dgm:dir/>
          <dgm:resizeHandles val="exact"/>
        </dgm:presLayoutVars>
      </dgm:prSet>
      <dgm:spPr/>
    </dgm:pt>
    <dgm:pt modelId="{95037206-F103-487A-8BFE-9D1225C7D532}" type="pres">
      <dgm:prSet presAssocID="{0B71222C-E163-4779-8520-FA729122E084}" presName="compNode" presStyleCnt="0"/>
      <dgm:spPr/>
    </dgm:pt>
    <dgm:pt modelId="{7BDD3634-3921-493B-9047-957844CFC006}" type="pres">
      <dgm:prSet presAssocID="{0B71222C-E163-4779-8520-FA729122E084}" presName="bgRect" presStyleLbl="bgShp" presStyleIdx="0" presStyleCnt="2"/>
      <dgm:spPr/>
    </dgm:pt>
    <dgm:pt modelId="{7DBF3C0D-2B80-4345-A126-2A545118E32A}" type="pres">
      <dgm:prSet presAssocID="{0B71222C-E163-4779-8520-FA729122E08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3A52758-04CF-4748-B9A7-7F8E9641DE63}" type="pres">
      <dgm:prSet presAssocID="{0B71222C-E163-4779-8520-FA729122E084}" presName="spaceRect" presStyleCnt="0"/>
      <dgm:spPr/>
    </dgm:pt>
    <dgm:pt modelId="{08E18F6C-2ACB-4608-8D87-17592EBBEC61}" type="pres">
      <dgm:prSet presAssocID="{0B71222C-E163-4779-8520-FA729122E084}" presName="parTx" presStyleLbl="revTx" presStyleIdx="0" presStyleCnt="2">
        <dgm:presLayoutVars>
          <dgm:chMax val="0"/>
          <dgm:chPref val="0"/>
        </dgm:presLayoutVars>
      </dgm:prSet>
      <dgm:spPr/>
    </dgm:pt>
    <dgm:pt modelId="{8B7E6DE8-8846-4A8B-AD40-63A98A86961C}" type="pres">
      <dgm:prSet presAssocID="{E514FD9A-DE06-47AF-BF29-691BAF76B164}" presName="sibTrans" presStyleCnt="0"/>
      <dgm:spPr/>
    </dgm:pt>
    <dgm:pt modelId="{0439D392-140E-491D-B775-5B155A059435}" type="pres">
      <dgm:prSet presAssocID="{1F018114-D686-45CE-83C1-9B6CCB8D72BA}" presName="compNode" presStyleCnt="0"/>
      <dgm:spPr/>
    </dgm:pt>
    <dgm:pt modelId="{45815B3B-36BC-460A-B727-8533D946D06E}" type="pres">
      <dgm:prSet presAssocID="{1F018114-D686-45CE-83C1-9B6CCB8D72BA}" presName="bgRect" presStyleLbl="bgShp" presStyleIdx="1" presStyleCnt="2"/>
      <dgm:spPr/>
    </dgm:pt>
    <dgm:pt modelId="{D080CB2D-F49D-4F8D-8A7B-18D6A6903700}" type="pres">
      <dgm:prSet presAssocID="{1F018114-D686-45CE-83C1-9B6CCB8D72B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AB4FB53-11DF-4C14-9718-06AD219EE377}" type="pres">
      <dgm:prSet presAssocID="{1F018114-D686-45CE-83C1-9B6CCB8D72BA}" presName="spaceRect" presStyleCnt="0"/>
      <dgm:spPr/>
    </dgm:pt>
    <dgm:pt modelId="{964B05E7-09B3-415E-9F4A-01C11895277B}" type="pres">
      <dgm:prSet presAssocID="{1F018114-D686-45CE-83C1-9B6CCB8D72B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314B611-9748-4474-A436-910939A80C25}" srcId="{D9440683-F2FB-4E60-A903-B6766A8E0202}" destId="{0B71222C-E163-4779-8520-FA729122E084}" srcOrd="0" destOrd="0" parTransId="{32ED43AF-44F5-40F3-8176-05BD1FF46048}" sibTransId="{E514FD9A-DE06-47AF-BF29-691BAF76B164}"/>
    <dgm:cxn modelId="{26CFAEB6-2433-4822-A9DD-581FD54F1921}" srcId="{D9440683-F2FB-4E60-A903-B6766A8E0202}" destId="{1F018114-D686-45CE-83C1-9B6CCB8D72BA}" srcOrd="1" destOrd="0" parTransId="{0117917B-C4D5-4088-8F41-18CF893CFCCA}" sibTransId="{9BB5E008-9081-4D70-AFDF-FC06B22538C4}"/>
    <dgm:cxn modelId="{51E992E5-8DCF-46E8-ADF2-F9239448156A}" type="presOf" srcId="{0B71222C-E163-4779-8520-FA729122E084}" destId="{08E18F6C-2ACB-4608-8D87-17592EBBEC61}" srcOrd="0" destOrd="0" presId="urn:microsoft.com/office/officeart/2018/2/layout/IconVerticalSolidList"/>
    <dgm:cxn modelId="{B09462F5-1347-4660-A6F7-332B0526FCF1}" type="presOf" srcId="{D9440683-F2FB-4E60-A903-B6766A8E0202}" destId="{29F0586A-C7E0-4092-89D7-2389D1A45815}" srcOrd="0" destOrd="0" presId="urn:microsoft.com/office/officeart/2018/2/layout/IconVerticalSolidList"/>
    <dgm:cxn modelId="{4C1194FA-D62C-40A9-81F4-6AE65AEACB2A}" type="presOf" srcId="{1F018114-D686-45CE-83C1-9B6CCB8D72BA}" destId="{964B05E7-09B3-415E-9F4A-01C11895277B}" srcOrd="0" destOrd="0" presId="urn:microsoft.com/office/officeart/2018/2/layout/IconVerticalSolidList"/>
    <dgm:cxn modelId="{18939973-0841-46B1-B624-BB6ED9AB0E42}" type="presParOf" srcId="{29F0586A-C7E0-4092-89D7-2389D1A45815}" destId="{95037206-F103-487A-8BFE-9D1225C7D532}" srcOrd="0" destOrd="0" presId="urn:microsoft.com/office/officeart/2018/2/layout/IconVerticalSolidList"/>
    <dgm:cxn modelId="{32A75940-E0D1-4E43-8AED-7B80243C5538}" type="presParOf" srcId="{95037206-F103-487A-8BFE-9D1225C7D532}" destId="{7BDD3634-3921-493B-9047-957844CFC006}" srcOrd="0" destOrd="0" presId="urn:microsoft.com/office/officeart/2018/2/layout/IconVerticalSolidList"/>
    <dgm:cxn modelId="{B8D77A1F-A211-4D65-9B32-86BEA80F0AD5}" type="presParOf" srcId="{95037206-F103-487A-8BFE-9D1225C7D532}" destId="{7DBF3C0D-2B80-4345-A126-2A545118E32A}" srcOrd="1" destOrd="0" presId="urn:microsoft.com/office/officeart/2018/2/layout/IconVerticalSolidList"/>
    <dgm:cxn modelId="{E2BF06E4-9224-4844-8B30-920E9AD6EE30}" type="presParOf" srcId="{95037206-F103-487A-8BFE-9D1225C7D532}" destId="{73A52758-04CF-4748-B9A7-7F8E9641DE63}" srcOrd="2" destOrd="0" presId="urn:microsoft.com/office/officeart/2018/2/layout/IconVerticalSolidList"/>
    <dgm:cxn modelId="{4D2426D5-2F51-4033-9761-44E47323EE48}" type="presParOf" srcId="{95037206-F103-487A-8BFE-9D1225C7D532}" destId="{08E18F6C-2ACB-4608-8D87-17592EBBEC61}" srcOrd="3" destOrd="0" presId="urn:microsoft.com/office/officeart/2018/2/layout/IconVerticalSolidList"/>
    <dgm:cxn modelId="{1BF1D791-48ED-48B2-934E-5E7B9930A783}" type="presParOf" srcId="{29F0586A-C7E0-4092-89D7-2389D1A45815}" destId="{8B7E6DE8-8846-4A8B-AD40-63A98A86961C}" srcOrd="1" destOrd="0" presId="urn:microsoft.com/office/officeart/2018/2/layout/IconVerticalSolidList"/>
    <dgm:cxn modelId="{920DBE91-33E7-4106-A969-F62E2D671002}" type="presParOf" srcId="{29F0586A-C7E0-4092-89D7-2389D1A45815}" destId="{0439D392-140E-491D-B775-5B155A059435}" srcOrd="2" destOrd="0" presId="urn:microsoft.com/office/officeart/2018/2/layout/IconVerticalSolidList"/>
    <dgm:cxn modelId="{7FF5E08A-B3A8-413D-B4B0-E972BBAD3BF9}" type="presParOf" srcId="{0439D392-140E-491D-B775-5B155A059435}" destId="{45815B3B-36BC-460A-B727-8533D946D06E}" srcOrd="0" destOrd="0" presId="urn:microsoft.com/office/officeart/2018/2/layout/IconVerticalSolidList"/>
    <dgm:cxn modelId="{7EFF9692-0328-40CE-94FF-BEF0409D436F}" type="presParOf" srcId="{0439D392-140E-491D-B775-5B155A059435}" destId="{D080CB2D-F49D-4F8D-8A7B-18D6A6903700}" srcOrd="1" destOrd="0" presId="urn:microsoft.com/office/officeart/2018/2/layout/IconVerticalSolidList"/>
    <dgm:cxn modelId="{E5CD3905-B50D-481B-8731-69F1F361DF97}" type="presParOf" srcId="{0439D392-140E-491D-B775-5B155A059435}" destId="{AAB4FB53-11DF-4C14-9718-06AD219EE377}" srcOrd="2" destOrd="0" presId="urn:microsoft.com/office/officeart/2018/2/layout/IconVerticalSolidList"/>
    <dgm:cxn modelId="{689F149B-8152-436F-AE49-80E2F6A237BB}" type="presParOf" srcId="{0439D392-140E-491D-B775-5B155A059435}" destId="{964B05E7-09B3-415E-9F4A-01C1189527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AE6D7F-3190-442C-9315-B6EB67E68E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3974A5C-A5AF-48B7-A47A-F86CC91C35C2}">
      <dgm:prSet/>
      <dgm:spPr/>
      <dgm:t>
        <a:bodyPr/>
        <a:lstStyle/>
        <a:p>
          <a:r>
            <a:rPr lang="en-US"/>
            <a:t>An overview of the monitoring infrastructure that collects metrics from all application environments (dev, uat, prod). </a:t>
          </a:r>
        </a:p>
      </dgm:t>
    </dgm:pt>
    <dgm:pt modelId="{B7551D34-F9F7-44AF-B22A-946230B48440}" type="parTrans" cxnId="{33482749-D190-463B-9257-0CC1FC55F112}">
      <dgm:prSet/>
      <dgm:spPr/>
      <dgm:t>
        <a:bodyPr/>
        <a:lstStyle/>
        <a:p>
          <a:endParaRPr lang="en-US"/>
        </a:p>
      </dgm:t>
    </dgm:pt>
    <dgm:pt modelId="{064371E1-3E94-4942-A344-59FEF719A82B}" type="sibTrans" cxnId="{33482749-D190-463B-9257-0CC1FC55F112}">
      <dgm:prSet/>
      <dgm:spPr/>
      <dgm:t>
        <a:bodyPr/>
        <a:lstStyle/>
        <a:p>
          <a:endParaRPr lang="en-US"/>
        </a:p>
      </dgm:t>
    </dgm:pt>
    <dgm:pt modelId="{CCDE74BE-195E-4104-B7FF-B397B66ADB9C}">
      <dgm:prSet/>
      <dgm:spPr/>
      <dgm:t>
        <a:bodyPr/>
        <a:lstStyle/>
        <a:p>
          <a:r>
            <a:rPr lang="en-US"/>
            <a:t>The system uses Prometheus for metric collection and storage, and Grafana for visualization, both running as containerized services on AWS ECS Fargate. </a:t>
          </a:r>
        </a:p>
      </dgm:t>
    </dgm:pt>
    <dgm:pt modelId="{0396401D-6F8F-4433-A49E-CE207D0D5526}" type="parTrans" cxnId="{A6EFD964-D994-42BE-9871-B9F1405803D4}">
      <dgm:prSet/>
      <dgm:spPr/>
      <dgm:t>
        <a:bodyPr/>
        <a:lstStyle/>
        <a:p>
          <a:endParaRPr lang="en-US"/>
        </a:p>
      </dgm:t>
    </dgm:pt>
    <dgm:pt modelId="{CDF23969-3C31-4D90-B783-9C27D14988D6}" type="sibTrans" cxnId="{A6EFD964-D994-42BE-9871-B9F1405803D4}">
      <dgm:prSet/>
      <dgm:spPr/>
      <dgm:t>
        <a:bodyPr/>
        <a:lstStyle/>
        <a:p>
          <a:endParaRPr lang="en-US"/>
        </a:p>
      </dgm:t>
    </dgm:pt>
    <dgm:pt modelId="{D6CF67B9-54DE-44B7-98B8-2D6D552FAE31}">
      <dgm:prSet/>
      <dgm:spPr/>
      <dgm:t>
        <a:bodyPr/>
        <a:lstStyle/>
        <a:p>
          <a:r>
            <a:rPr lang="en-US"/>
            <a:t>The infrastructure is deployed in a dedicated monitoring VPC and uses EC2 service discovery to automatically detect and scrape metrics from application instances across all environments.</a:t>
          </a:r>
        </a:p>
      </dgm:t>
    </dgm:pt>
    <dgm:pt modelId="{31982E3C-20E2-4656-842C-6FD1AB334050}" type="parTrans" cxnId="{6EE35104-CEDD-4A97-B4AA-3E7D736FB35F}">
      <dgm:prSet/>
      <dgm:spPr/>
      <dgm:t>
        <a:bodyPr/>
        <a:lstStyle/>
        <a:p>
          <a:endParaRPr lang="en-US"/>
        </a:p>
      </dgm:t>
    </dgm:pt>
    <dgm:pt modelId="{C745E00A-0447-4623-AE12-123DE4830B58}" type="sibTrans" cxnId="{6EE35104-CEDD-4A97-B4AA-3E7D736FB35F}">
      <dgm:prSet/>
      <dgm:spPr/>
      <dgm:t>
        <a:bodyPr/>
        <a:lstStyle/>
        <a:p>
          <a:endParaRPr lang="en-US"/>
        </a:p>
      </dgm:t>
    </dgm:pt>
    <dgm:pt modelId="{37187783-CDE8-474E-823D-8ED1379256DE}" type="pres">
      <dgm:prSet presAssocID="{18AE6D7F-3190-442C-9315-B6EB67E68EF3}" presName="root" presStyleCnt="0">
        <dgm:presLayoutVars>
          <dgm:dir/>
          <dgm:resizeHandles val="exact"/>
        </dgm:presLayoutVars>
      </dgm:prSet>
      <dgm:spPr/>
    </dgm:pt>
    <dgm:pt modelId="{AF9625AA-A821-49B6-B23F-1F2D15BCBAC5}" type="pres">
      <dgm:prSet presAssocID="{C3974A5C-A5AF-48B7-A47A-F86CC91C35C2}" presName="compNode" presStyleCnt="0"/>
      <dgm:spPr/>
    </dgm:pt>
    <dgm:pt modelId="{1B396385-40B2-401C-A4F4-C56213BC9CE4}" type="pres">
      <dgm:prSet presAssocID="{C3974A5C-A5AF-48B7-A47A-F86CC91C35C2}" presName="bgRect" presStyleLbl="bgShp" presStyleIdx="0" presStyleCnt="3"/>
      <dgm:spPr/>
    </dgm:pt>
    <dgm:pt modelId="{770E9956-B2BA-4055-B833-306C6700E9F1}" type="pres">
      <dgm:prSet presAssocID="{C3974A5C-A5AF-48B7-A47A-F86CC91C35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3F0B7D9-B23C-48F0-B5CD-09C97FF82645}" type="pres">
      <dgm:prSet presAssocID="{C3974A5C-A5AF-48B7-A47A-F86CC91C35C2}" presName="spaceRect" presStyleCnt="0"/>
      <dgm:spPr/>
    </dgm:pt>
    <dgm:pt modelId="{FF7BA661-085A-4B9D-BE85-48EC7EE243B9}" type="pres">
      <dgm:prSet presAssocID="{C3974A5C-A5AF-48B7-A47A-F86CC91C35C2}" presName="parTx" presStyleLbl="revTx" presStyleIdx="0" presStyleCnt="3">
        <dgm:presLayoutVars>
          <dgm:chMax val="0"/>
          <dgm:chPref val="0"/>
        </dgm:presLayoutVars>
      </dgm:prSet>
      <dgm:spPr/>
    </dgm:pt>
    <dgm:pt modelId="{22E98832-0009-4102-A5BA-F5F0E6933C72}" type="pres">
      <dgm:prSet presAssocID="{064371E1-3E94-4942-A344-59FEF719A82B}" presName="sibTrans" presStyleCnt="0"/>
      <dgm:spPr/>
    </dgm:pt>
    <dgm:pt modelId="{43B66E5A-40C0-40F7-960A-C55DC022D093}" type="pres">
      <dgm:prSet presAssocID="{CCDE74BE-195E-4104-B7FF-B397B66ADB9C}" presName="compNode" presStyleCnt="0"/>
      <dgm:spPr/>
    </dgm:pt>
    <dgm:pt modelId="{FC9E24C6-B3FC-46BC-89B2-96EEB55EA9DB}" type="pres">
      <dgm:prSet presAssocID="{CCDE74BE-195E-4104-B7FF-B397B66ADB9C}" presName="bgRect" presStyleLbl="bgShp" presStyleIdx="1" presStyleCnt="3"/>
      <dgm:spPr/>
    </dgm:pt>
    <dgm:pt modelId="{4FC063EC-9369-4E83-AD21-B150789F42D6}" type="pres">
      <dgm:prSet presAssocID="{CCDE74BE-195E-4104-B7FF-B397B66ADB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087090C-385B-4352-B926-193E80FEA46A}" type="pres">
      <dgm:prSet presAssocID="{CCDE74BE-195E-4104-B7FF-B397B66ADB9C}" presName="spaceRect" presStyleCnt="0"/>
      <dgm:spPr/>
    </dgm:pt>
    <dgm:pt modelId="{9FF90BEB-2241-4D6A-B816-152485197E41}" type="pres">
      <dgm:prSet presAssocID="{CCDE74BE-195E-4104-B7FF-B397B66ADB9C}" presName="parTx" presStyleLbl="revTx" presStyleIdx="1" presStyleCnt="3">
        <dgm:presLayoutVars>
          <dgm:chMax val="0"/>
          <dgm:chPref val="0"/>
        </dgm:presLayoutVars>
      </dgm:prSet>
      <dgm:spPr/>
    </dgm:pt>
    <dgm:pt modelId="{7CBB703E-6692-4B57-8677-36785C31D1B9}" type="pres">
      <dgm:prSet presAssocID="{CDF23969-3C31-4D90-B783-9C27D14988D6}" presName="sibTrans" presStyleCnt="0"/>
      <dgm:spPr/>
    </dgm:pt>
    <dgm:pt modelId="{552585A3-4706-47FA-9237-C4BD7BE72CE0}" type="pres">
      <dgm:prSet presAssocID="{D6CF67B9-54DE-44B7-98B8-2D6D552FAE31}" presName="compNode" presStyleCnt="0"/>
      <dgm:spPr/>
    </dgm:pt>
    <dgm:pt modelId="{72101FCD-F6A9-48BB-A1A6-CA972ADFB144}" type="pres">
      <dgm:prSet presAssocID="{D6CF67B9-54DE-44B7-98B8-2D6D552FAE31}" presName="bgRect" presStyleLbl="bgShp" presStyleIdx="2" presStyleCnt="3"/>
      <dgm:spPr/>
    </dgm:pt>
    <dgm:pt modelId="{E4B50CD8-5D5F-4629-A29D-A69A1F324F3A}" type="pres">
      <dgm:prSet presAssocID="{D6CF67B9-54DE-44B7-98B8-2D6D552FAE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A7F5C50-9638-47C5-97F4-EA2920DC0085}" type="pres">
      <dgm:prSet presAssocID="{D6CF67B9-54DE-44B7-98B8-2D6D552FAE31}" presName="spaceRect" presStyleCnt="0"/>
      <dgm:spPr/>
    </dgm:pt>
    <dgm:pt modelId="{B0A43CA5-D39C-426B-AB77-6F07E48C6647}" type="pres">
      <dgm:prSet presAssocID="{D6CF67B9-54DE-44B7-98B8-2D6D552FAE3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3D27303-E319-490B-BA90-9A9765151927}" type="presOf" srcId="{CCDE74BE-195E-4104-B7FF-B397B66ADB9C}" destId="{9FF90BEB-2241-4D6A-B816-152485197E41}" srcOrd="0" destOrd="0" presId="urn:microsoft.com/office/officeart/2018/2/layout/IconVerticalSolidList"/>
    <dgm:cxn modelId="{6EE35104-CEDD-4A97-B4AA-3E7D736FB35F}" srcId="{18AE6D7F-3190-442C-9315-B6EB67E68EF3}" destId="{D6CF67B9-54DE-44B7-98B8-2D6D552FAE31}" srcOrd="2" destOrd="0" parTransId="{31982E3C-20E2-4656-842C-6FD1AB334050}" sibTransId="{C745E00A-0447-4623-AE12-123DE4830B58}"/>
    <dgm:cxn modelId="{33482749-D190-463B-9257-0CC1FC55F112}" srcId="{18AE6D7F-3190-442C-9315-B6EB67E68EF3}" destId="{C3974A5C-A5AF-48B7-A47A-F86CC91C35C2}" srcOrd="0" destOrd="0" parTransId="{B7551D34-F9F7-44AF-B22A-946230B48440}" sibTransId="{064371E1-3E94-4942-A344-59FEF719A82B}"/>
    <dgm:cxn modelId="{A6EFD964-D994-42BE-9871-B9F1405803D4}" srcId="{18AE6D7F-3190-442C-9315-B6EB67E68EF3}" destId="{CCDE74BE-195E-4104-B7FF-B397B66ADB9C}" srcOrd="1" destOrd="0" parTransId="{0396401D-6F8F-4433-A49E-CE207D0D5526}" sibTransId="{CDF23969-3C31-4D90-B783-9C27D14988D6}"/>
    <dgm:cxn modelId="{0668AA90-8B77-45B3-97B7-B10081FD4DF3}" type="presOf" srcId="{18AE6D7F-3190-442C-9315-B6EB67E68EF3}" destId="{37187783-CDE8-474E-823D-8ED1379256DE}" srcOrd="0" destOrd="0" presId="urn:microsoft.com/office/officeart/2018/2/layout/IconVerticalSolidList"/>
    <dgm:cxn modelId="{B003A5BF-0E4B-441B-A8E9-7DD7A044796C}" type="presOf" srcId="{D6CF67B9-54DE-44B7-98B8-2D6D552FAE31}" destId="{B0A43CA5-D39C-426B-AB77-6F07E48C6647}" srcOrd="0" destOrd="0" presId="urn:microsoft.com/office/officeart/2018/2/layout/IconVerticalSolidList"/>
    <dgm:cxn modelId="{06BA71E9-ACA2-47D3-8F8E-C28E5E1B19C5}" type="presOf" srcId="{C3974A5C-A5AF-48B7-A47A-F86CC91C35C2}" destId="{FF7BA661-085A-4B9D-BE85-48EC7EE243B9}" srcOrd="0" destOrd="0" presId="urn:microsoft.com/office/officeart/2018/2/layout/IconVerticalSolidList"/>
    <dgm:cxn modelId="{3D5EBB81-7C2B-471B-84B2-B7733843D1B8}" type="presParOf" srcId="{37187783-CDE8-474E-823D-8ED1379256DE}" destId="{AF9625AA-A821-49B6-B23F-1F2D15BCBAC5}" srcOrd="0" destOrd="0" presId="urn:microsoft.com/office/officeart/2018/2/layout/IconVerticalSolidList"/>
    <dgm:cxn modelId="{A5ECE1C6-B604-4521-A295-ACA6F4E0ED9D}" type="presParOf" srcId="{AF9625AA-A821-49B6-B23F-1F2D15BCBAC5}" destId="{1B396385-40B2-401C-A4F4-C56213BC9CE4}" srcOrd="0" destOrd="0" presId="urn:microsoft.com/office/officeart/2018/2/layout/IconVerticalSolidList"/>
    <dgm:cxn modelId="{E20DDA92-2822-4580-A324-FE503A28DE14}" type="presParOf" srcId="{AF9625AA-A821-49B6-B23F-1F2D15BCBAC5}" destId="{770E9956-B2BA-4055-B833-306C6700E9F1}" srcOrd="1" destOrd="0" presId="urn:microsoft.com/office/officeart/2018/2/layout/IconVerticalSolidList"/>
    <dgm:cxn modelId="{05CDB25A-11A9-4B3F-A8D4-5C92050FEBD1}" type="presParOf" srcId="{AF9625AA-A821-49B6-B23F-1F2D15BCBAC5}" destId="{A3F0B7D9-B23C-48F0-B5CD-09C97FF82645}" srcOrd="2" destOrd="0" presId="urn:microsoft.com/office/officeart/2018/2/layout/IconVerticalSolidList"/>
    <dgm:cxn modelId="{75AD4E1E-0552-4C2D-AC72-493074D3E5A0}" type="presParOf" srcId="{AF9625AA-A821-49B6-B23F-1F2D15BCBAC5}" destId="{FF7BA661-085A-4B9D-BE85-48EC7EE243B9}" srcOrd="3" destOrd="0" presId="urn:microsoft.com/office/officeart/2018/2/layout/IconVerticalSolidList"/>
    <dgm:cxn modelId="{4CA12CC5-053B-4B43-89D9-FAF60B3C531C}" type="presParOf" srcId="{37187783-CDE8-474E-823D-8ED1379256DE}" destId="{22E98832-0009-4102-A5BA-F5F0E6933C72}" srcOrd="1" destOrd="0" presId="urn:microsoft.com/office/officeart/2018/2/layout/IconVerticalSolidList"/>
    <dgm:cxn modelId="{C078A1C8-E86B-4AF1-8E92-791168391211}" type="presParOf" srcId="{37187783-CDE8-474E-823D-8ED1379256DE}" destId="{43B66E5A-40C0-40F7-960A-C55DC022D093}" srcOrd="2" destOrd="0" presId="urn:microsoft.com/office/officeart/2018/2/layout/IconVerticalSolidList"/>
    <dgm:cxn modelId="{C3B70629-016C-4C58-8EDC-F4C82A5B921F}" type="presParOf" srcId="{43B66E5A-40C0-40F7-960A-C55DC022D093}" destId="{FC9E24C6-B3FC-46BC-89B2-96EEB55EA9DB}" srcOrd="0" destOrd="0" presId="urn:microsoft.com/office/officeart/2018/2/layout/IconVerticalSolidList"/>
    <dgm:cxn modelId="{C5557787-71A0-41AB-924C-972FFF8911F9}" type="presParOf" srcId="{43B66E5A-40C0-40F7-960A-C55DC022D093}" destId="{4FC063EC-9369-4E83-AD21-B150789F42D6}" srcOrd="1" destOrd="0" presId="urn:microsoft.com/office/officeart/2018/2/layout/IconVerticalSolidList"/>
    <dgm:cxn modelId="{7EECDF0D-2200-4314-AEFA-2599CCC0DA2C}" type="presParOf" srcId="{43B66E5A-40C0-40F7-960A-C55DC022D093}" destId="{7087090C-385B-4352-B926-193E80FEA46A}" srcOrd="2" destOrd="0" presId="urn:microsoft.com/office/officeart/2018/2/layout/IconVerticalSolidList"/>
    <dgm:cxn modelId="{99040CEE-D48B-4DD4-B82B-EEEED28FF1AB}" type="presParOf" srcId="{43B66E5A-40C0-40F7-960A-C55DC022D093}" destId="{9FF90BEB-2241-4D6A-B816-152485197E41}" srcOrd="3" destOrd="0" presId="urn:microsoft.com/office/officeart/2018/2/layout/IconVerticalSolidList"/>
    <dgm:cxn modelId="{6784AD1C-5E1D-4EA0-9B33-5837FD778E7C}" type="presParOf" srcId="{37187783-CDE8-474E-823D-8ED1379256DE}" destId="{7CBB703E-6692-4B57-8677-36785C31D1B9}" srcOrd="3" destOrd="0" presId="urn:microsoft.com/office/officeart/2018/2/layout/IconVerticalSolidList"/>
    <dgm:cxn modelId="{7E63BBFC-7FD0-48DF-AF6C-EB2FF799D7E4}" type="presParOf" srcId="{37187783-CDE8-474E-823D-8ED1379256DE}" destId="{552585A3-4706-47FA-9237-C4BD7BE72CE0}" srcOrd="4" destOrd="0" presId="urn:microsoft.com/office/officeart/2018/2/layout/IconVerticalSolidList"/>
    <dgm:cxn modelId="{22C1F645-F7D8-4D4B-BE0F-28AFFF82A890}" type="presParOf" srcId="{552585A3-4706-47FA-9237-C4BD7BE72CE0}" destId="{72101FCD-F6A9-48BB-A1A6-CA972ADFB144}" srcOrd="0" destOrd="0" presId="urn:microsoft.com/office/officeart/2018/2/layout/IconVerticalSolidList"/>
    <dgm:cxn modelId="{56D83419-C2E4-49E1-978B-58BFB654EF6A}" type="presParOf" srcId="{552585A3-4706-47FA-9237-C4BD7BE72CE0}" destId="{E4B50CD8-5D5F-4629-A29D-A69A1F324F3A}" srcOrd="1" destOrd="0" presId="urn:microsoft.com/office/officeart/2018/2/layout/IconVerticalSolidList"/>
    <dgm:cxn modelId="{D3F591D6-1578-4D4C-A80B-57586D50AF78}" type="presParOf" srcId="{552585A3-4706-47FA-9237-C4BD7BE72CE0}" destId="{DA7F5C50-9638-47C5-97F4-EA2920DC0085}" srcOrd="2" destOrd="0" presId="urn:microsoft.com/office/officeart/2018/2/layout/IconVerticalSolidList"/>
    <dgm:cxn modelId="{68C0E837-AC17-471F-8586-1BDDC9B3E5D8}" type="presParOf" srcId="{552585A3-4706-47FA-9237-C4BD7BE72CE0}" destId="{B0A43CA5-D39C-426B-AB77-6F07E48C66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02EEB3-B69E-48A2-B95A-A5DD66F234B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CD9C99D-E5EC-4CD6-B988-50542033FCB1}">
      <dgm:prSet/>
      <dgm:spPr/>
      <dgm:t>
        <a:bodyPr/>
        <a:lstStyle/>
        <a:p>
          <a:r>
            <a:rPr lang="en-US" b="1"/>
            <a:t>Reliability by Design</a:t>
          </a:r>
          <a:endParaRPr lang="en-US"/>
        </a:p>
      </dgm:t>
    </dgm:pt>
    <dgm:pt modelId="{60CCD96A-3A7E-423C-8B71-60B14CDDEA87}" type="parTrans" cxnId="{68629CCA-1AEB-44D5-BF65-D2904E0CAB19}">
      <dgm:prSet/>
      <dgm:spPr/>
      <dgm:t>
        <a:bodyPr/>
        <a:lstStyle/>
        <a:p>
          <a:endParaRPr lang="en-US"/>
        </a:p>
      </dgm:t>
    </dgm:pt>
    <dgm:pt modelId="{E531FB77-78D1-4B16-969A-7C003BDC3B6D}" type="sibTrans" cxnId="{68629CCA-1AEB-44D5-BF65-D2904E0CAB19}">
      <dgm:prSet/>
      <dgm:spPr/>
      <dgm:t>
        <a:bodyPr/>
        <a:lstStyle/>
        <a:p>
          <a:endParaRPr lang="en-US"/>
        </a:p>
      </dgm:t>
    </dgm:pt>
    <dgm:pt modelId="{FE92CC26-F860-48E8-8B83-0D447EBD90D2}">
      <dgm:prSet/>
      <dgm:spPr/>
      <dgm:t>
        <a:bodyPr/>
        <a:lstStyle/>
        <a:p>
          <a:r>
            <a:rPr lang="en-US"/>
            <a:t>Infrastructure is fully automated using Terraform, ensuring consistent, repeatable, and low-risk EC2 deployments across environments.</a:t>
          </a:r>
        </a:p>
      </dgm:t>
    </dgm:pt>
    <dgm:pt modelId="{ACC33CC3-82C6-4D12-B935-7AFA80937709}" type="parTrans" cxnId="{8F35E843-629C-4620-BB21-235FC92E2256}">
      <dgm:prSet/>
      <dgm:spPr/>
      <dgm:t>
        <a:bodyPr/>
        <a:lstStyle/>
        <a:p>
          <a:endParaRPr lang="en-US"/>
        </a:p>
      </dgm:t>
    </dgm:pt>
    <dgm:pt modelId="{A9B72480-A657-454B-9EBC-0739F9A1B10F}" type="sibTrans" cxnId="{8F35E843-629C-4620-BB21-235FC92E2256}">
      <dgm:prSet/>
      <dgm:spPr/>
      <dgm:t>
        <a:bodyPr/>
        <a:lstStyle/>
        <a:p>
          <a:endParaRPr lang="en-US"/>
        </a:p>
      </dgm:t>
    </dgm:pt>
    <dgm:pt modelId="{361D93D8-889C-44A6-BB2D-5775EF09DBA0}">
      <dgm:prSet/>
      <dgm:spPr/>
      <dgm:t>
        <a:bodyPr/>
        <a:lstStyle/>
        <a:p>
          <a:r>
            <a:rPr lang="en-US" b="1"/>
            <a:t>Safe &amp; Controlled Change Management</a:t>
          </a:r>
          <a:endParaRPr lang="en-US"/>
        </a:p>
      </dgm:t>
    </dgm:pt>
    <dgm:pt modelId="{86326AA4-649B-4E07-915C-30E59C713A2C}" type="parTrans" cxnId="{83397F3B-362C-4840-AFCB-FF277AE2C2C0}">
      <dgm:prSet/>
      <dgm:spPr/>
      <dgm:t>
        <a:bodyPr/>
        <a:lstStyle/>
        <a:p>
          <a:endParaRPr lang="en-US"/>
        </a:p>
      </dgm:t>
    </dgm:pt>
    <dgm:pt modelId="{1213F9C6-0B6E-474A-AC88-0EF1BC5F13C8}" type="sibTrans" cxnId="{83397F3B-362C-4840-AFCB-FF277AE2C2C0}">
      <dgm:prSet/>
      <dgm:spPr/>
      <dgm:t>
        <a:bodyPr/>
        <a:lstStyle/>
        <a:p>
          <a:endParaRPr lang="en-US"/>
        </a:p>
      </dgm:t>
    </dgm:pt>
    <dgm:pt modelId="{D284D273-AE6C-4E21-8FEC-45A6E178F5ED}">
      <dgm:prSet/>
      <dgm:spPr/>
      <dgm:t>
        <a:bodyPr/>
        <a:lstStyle/>
        <a:p>
          <a:r>
            <a:rPr lang="en-US"/>
            <a:t>CI/CD pipelines with environment separation and approval gates reduce deployment risk and prevent accidental production impact.</a:t>
          </a:r>
        </a:p>
      </dgm:t>
    </dgm:pt>
    <dgm:pt modelId="{8E61F4BD-F834-4128-B3B5-0E4B53058199}" type="parTrans" cxnId="{B75DC56B-CB15-4777-980A-EE2F867939F5}">
      <dgm:prSet/>
      <dgm:spPr/>
      <dgm:t>
        <a:bodyPr/>
        <a:lstStyle/>
        <a:p>
          <a:endParaRPr lang="en-US"/>
        </a:p>
      </dgm:t>
    </dgm:pt>
    <dgm:pt modelId="{04D532FD-CFEE-44E4-9BFD-5DE894C674B9}" type="sibTrans" cxnId="{B75DC56B-CB15-4777-980A-EE2F867939F5}">
      <dgm:prSet/>
      <dgm:spPr/>
      <dgm:t>
        <a:bodyPr/>
        <a:lstStyle/>
        <a:p>
          <a:endParaRPr lang="en-US"/>
        </a:p>
      </dgm:t>
    </dgm:pt>
    <dgm:pt modelId="{15549BD7-7755-46FE-BCD5-959FA6F0C8DB}">
      <dgm:prSet/>
      <dgm:spPr/>
      <dgm:t>
        <a:bodyPr/>
        <a:lstStyle/>
        <a:p>
          <a:r>
            <a:rPr lang="en-US" b="1"/>
            <a:t>Strong Observability Foundation</a:t>
          </a:r>
          <a:endParaRPr lang="en-US"/>
        </a:p>
      </dgm:t>
    </dgm:pt>
    <dgm:pt modelId="{2B1630E9-DCEF-444B-9AC1-419088AC6A46}" type="parTrans" cxnId="{B8661260-2615-4E11-A623-A2EC99F86441}">
      <dgm:prSet/>
      <dgm:spPr/>
      <dgm:t>
        <a:bodyPr/>
        <a:lstStyle/>
        <a:p>
          <a:endParaRPr lang="en-US"/>
        </a:p>
      </dgm:t>
    </dgm:pt>
    <dgm:pt modelId="{614BE54E-8B7F-40A5-9054-C66365D0CD7A}" type="sibTrans" cxnId="{B8661260-2615-4E11-A623-A2EC99F86441}">
      <dgm:prSet/>
      <dgm:spPr/>
      <dgm:t>
        <a:bodyPr/>
        <a:lstStyle/>
        <a:p>
          <a:endParaRPr lang="en-US"/>
        </a:p>
      </dgm:t>
    </dgm:pt>
    <dgm:pt modelId="{123160A2-F1BC-45E7-9E32-E67F2FC43FDB}">
      <dgm:prSet/>
      <dgm:spPr/>
      <dgm:t>
        <a:bodyPr/>
        <a:lstStyle/>
        <a:p>
          <a:r>
            <a:rPr lang="en-US"/>
            <a:t>Centralized monitoring with Prometheus and Grafana enables proactive detection, performance visibility, and capacity planning.</a:t>
          </a:r>
        </a:p>
      </dgm:t>
    </dgm:pt>
    <dgm:pt modelId="{5E6ACCFF-80AA-411E-A86A-5C24913795B6}" type="parTrans" cxnId="{6F397083-71A7-46A3-B2A9-5799CDD0A386}">
      <dgm:prSet/>
      <dgm:spPr/>
      <dgm:t>
        <a:bodyPr/>
        <a:lstStyle/>
        <a:p>
          <a:endParaRPr lang="en-US"/>
        </a:p>
      </dgm:t>
    </dgm:pt>
    <dgm:pt modelId="{C6862A75-0FBD-41DE-B671-2D3EA01EEA0C}" type="sibTrans" cxnId="{6F397083-71A7-46A3-B2A9-5799CDD0A386}">
      <dgm:prSet/>
      <dgm:spPr/>
      <dgm:t>
        <a:bodyPr/>
        <a:lstStyle/>
        <a:p>
          <a:endParaRPr lang="en-US"/>
        </a:p>
      </dgm:t>
    </dgm:pt>
    <dgm:pt modelId="{9518B057-BCD0-403C-BE9B-0BB5358414BC}">
      <dgm:prSet/>
      <dgm:spPr/>
      <dgm:t>
        <a:bodyPr/>
        <a:lstStyle/>
        <a:p>
          <a:r>
            <a:rPr lang="en-US"/>
            <a:t>Learning Experience</a:t>
          </a:r>
        </a:p>
      </dgm:t>
    </dgm:pt>
    <dgm:pt modelId="{1F208F67-8C30-4E78-B738-97842FDDECED}" type="parTrans" cxnId="{39AF0FE4-387C-4BB7-B431-B87753E195DF}">
      <dgm:prSet/>
      <dgm:spPr/>
      <dgm:t>
        <a:bodyPr/>
        <a:lstStyle/>
        <a:p>
          <a:endParaRPr lang="en-US"/>
        </a:p>
      </dgm:t>
    </dgm:pt>
    <dgm:pt modelId="{AC47CD97-A587-4D4D-8508-350B0BD05E4A}" type="sibTrans" cxnId="{39AF0FE4-387C-4BB7-B431-B87753E195DF}">
      <dgm:prSet/>
      <dgm:spPr/>
      <dgm:t>
        <a:bodyPr/>
        <a:lstStyle/>
        <a:p>
          <a:endParaRPr lang="en-US"/>
        </a:p>
      </dgm:t>
    </dgm:pt>
    <dgm:pt modelId="{001E9237-3A98-4D9D-8C7A-16DE57191AD5}">
      <dgm:prSet/>
      <dgm:spPr/>
      <dgm:t>
        <a:bodyPr/>
        <a:lstStyle/>
        <a:p>
          <a:r>
            <a:rPr lang="en-US" dirty="0"/>
            <a:t>Time Management</a:t>
          </a:r>
        </a:p>
      </dgm:t>
    </dgm:pt>
    <dgm:pt modelId="{6A2C6E39-896D-4A12-9C23-37554413AB6C}" type="parTrans" cxnId="{594DE59F-256C-4EC0-858C-AF24EBB2FD97}">
      <dgm:prSet/>
      <dgm:spPr/>
      <dgm:t>
        <a:bodyPr/>
        <a:lstStyle/>
        <a:p>
          <a:endParaRPr lang="en-US"/>
        </a:p>
      </dgm:t>
    </dgm:pt>
    <dgm:pt modelId="{559EF77C-A643-469C-B5E4-8F44A3972639}" type="sibTrans" cxnId="{594DE59F-256C-4EC0-858C-AF24EBB2FD97}">
      <dgm:prSet/>
      <dgm:spPr/>
      <dgm:t>
        <a:bodyPr/>
        <a:lstStyle/>
        <a:p>
          <a:endParaRPr lang="en-US"/>
        </a:p>
      </dgm:t>
    </dgm:pt>
    <dgm:pt modelId="{E274DA70-D111-4143-B4F4-6452B014BA6E}">
      <dgm:prSet/>
      <dgm:spPr/>
      <dgm:t>
        <a:bodyPr/>
        <a:lstStyle/>
        <a:p>
          <a:r>
            <a:rPr lang="en-US" dirty="0"/>
            <a:t> Issues with Coding</a:t>
          </a:r>
        </a:p>
      </dgm:t>
    </dgm:pt>
    <dgm:pt modelId="{8BD2A33B-DB50-4C3D-AB07-FA8263840DE4}" type="parTrans" cxnId="{E3EEAE7A-92EF-4F3B-B7FF-A3BB2F2DE1F2}">
      <dgm:prSet/>
      <dgm:spPr/>
      <dgm:t>
        <a:bodyPr/>
        <a:lstStyle/>
        <a:p>
          <a:endParaRPr lang="en-SG"/>
        </a:p>
      </dgm:t>
    </dgm:pt>
    <dgm:pt modelId="{00556B5A-5CD8-4C26-A2C0-B47AF29ACB9E}" type="sibTrans" cxnId="{E3EEAE7A-92EF-4F3B-B7FF-A3BB2F2DE1F2}">
      <dgm:prSet/>
      <dgm:spPr/>
      <dgm:t>
        <a:bodyPr/>
        <a:lstStyle/>
        <a:p>
          <a:endParaRPr lang="en-SG"/>
        </a:p>
      </dgm:t>
    </dgm:pt>
    <dgm:pt modelId="{F8DDA32F-BBC5-40EB-BC08-1A82EE0591B7}">
      <dgm:prSet/>
      <dgm:spPr/>
      <dgm:t>
        <a:bodyPr/>
        <a:lstStyle/>
        <a:p>
          <a:r>
            <a:rPr lang="en-US" dirty="0"/>
            <a:t> AWS &amp; Infrastructure Issues</a:t>
          </a:r>
        </a:p>
      </dgm:t>
    </dgm:pt>
    <dgm:pt modelId="{9EAA9B07-264C-45CA-9486-E609E7EDA028}" type="parTrans" cxnId="{7D77DEAF-7E02-40FB-B292-D224EFE3B3C3}">
      <dgm:prSet/>
      <dgm:spPr/>
      <dgm:t>
        <a:bodyPr/>
        <a:lstStyle/>
        <a:p>
          <a:endParaRPr lang="en-SG"/>
        </a:p>
      </dgm:t>
    </dgm:pt>
    <dgm:pt modelId="{EA0F8151-DD9C-4E45-B76A-F670AFAC63D1}" type="sibTrans" cxnId="{7D77DEAF-7E02-40FB-B292-D224EFE3B3C3}">
      <dgm:prSet/>
      <dgm:spPr/>
      <dgm:t>
        <a:bodyPr/>
        <a:lstStyle/>
        <a:p>
          <a:endParaRPr lang="en-SG"/>
        </a:p>
      </dgm:t>
    </dgm:pt>
    <dgm:pt modelId="{B93ADBB0-49DC-48C5-B7B4-6FF7C62BB246}" type="pres">
      <dgm:prSet presAssocID="{6902EEB3-B69E-48A2-B95A-A5DD66F234BF}" presName="Name0" presStyleCnt="0">
        <dgm:presLayoutVars>
          <dgm:dir/>
          <dgm:animLvl val="lvl"/>
          <dgm:resizeHandles val="exact"/>
        </dgm:presLayoutVars>
      </dgm:prSet>
      <dgm:spPr/>
    </dgm:pt>
    <dgm:pt modelId="{56D0CEB5-392B-456F-90E9-BD328E68AB62}" type="pres">
      <dgm:prSet presAssocID="{3CD9C99D-E5EC-4CD6-B988-50542033FCB1}" presName="composite" presStyleCnt="0"/>
      <dgm:spPr/>
    </dgm:pt>
    <dgm:pt modelId="{9791289B-8B6A-4707-832D-9E4FC8DE8E9B}" type="pres">
      <dgm:prSet presAssocID="{3CD9C99D-E5EC-4CD6-B988-50542033FCB1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6F660A6-BB8F-43EC-AC2F-6D91937050B1}" type="pres">
      <dgm:prSet presAssocID="{3CD9C99D-E5EC-4CD6-B988-50542033FCB1}" presName="desTx" presStyleLbl="alignAccFollowNode1" presStyleIdx="0" presStyleCnt="4">
        <dgm:presLayoutVars>
          <dgm:bulletEnabled val="1"/>
        </dgm:presLayoutVars>
      </dgm:prSet>
      <dgm:spPr/>
    </dgm:pt>
    <dgm:pt modelId="{27A8F863-37EF-4877-9BB4-DA434CA6A613}" type="pres">
      <dgm:prSet presAssocID="{E531FB77-78D1-4B16-969A-7C003BDC3B6D}" presName="space" presStyleCnt="0"/>
      <dgm:spPr/>
    </dgm:pt>
    <dgm:pt modelId="{01EF8C5E-D621-4C82-B02D-8CBB35E78DB0}" type="pres">
      <dgm:prSet presAssocID="{361D93D8-889C-44A6-BB2D-5775EF09DBA0}" presName="composite" presStyleCnt="0"/>
      <dgm:spPr/>
    </dgm:pt>
    <dgm:pt modelId="{08A6A45A-0D61-4BD6-A071-09AB3661C2A8}" type="pres">
      <dgm:prSet presAssocID="{361D93D8-889C-44A6-BB2D-5775EF09DBA0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C3307A89-D024-4FBC-B0E6-3FC85E775BF7}" type="pres">
      <dgm:prSet presAssocID="{361D93D8-889C-44A6-BB2D-5775EF09DBA0}" presName="desTx" presStyleLbl="alignAccFollowNode1" presStyleIdx="1" presStyleCnt="4">
        <dgm:presLayoutVars>
          <dgm:bulletEnabled val="1"/>
        </dgm:presLayoutVars>
      </dgm:prSet>
      <dgm:spPr/>
    </dgm:pt>
    <dgm:pt modelId="{025A7A6A-7F0A-49E6-9C50-7F8B6C789222}" type="pres">
      <dgm:prSet presAssocID="{1213F9C6-0B6E-474A-AC88-0EF1BC5F13C8}" presName="space" presStyleCnt="0"/>
      <dgm:spPr/>
    </dgm:pt>
    <dgm:pt modelId="{CB723D4A-3641-4199-AA2C-0EEDE21C2003}" type="pres">
      <dgm:prSet presAssocID="{15549BD7-7755-46FE-BCD5-959FA6F0C8DB}" presName="composite" presStyleCnt="0"/>
      <dgm:spPr/>
    </dgm:pt>
    <dgm:pt modelId="{007A4450-3F28-46F6-AB18-5D35D589B698}" type="pres">
      <dgm:prSet presAssocID="{15549BD7-7755-46FE-BCD5-959FA6F0C8D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AC9F6621-4484-4913-9DD1-044E511386A7}" type="pres">
      <dgm:prSet presAssocID="{15549BD7-7755-46FE-BCD5-959FA6F0C8DB}" presName="desTx" presStyleLbl="alignAccFollowNode1" presStyleIdx="2" presStyleCnt="4">
        <dgm:presLayoutVars>
          <dgm:bulletEnabled val="1"/>
        </dgm:presLayoutVars>
      </dgm:prSet>
      <dgm:spPr/>
    </dgm:pt>
    <dgm:pt modelId="{D8C043DE-9628-4673-A867-759E22697E9D}" type="pres">
      <dgm:prSet presAssocID="{614BE54E-8B7F-40A5-9054-C66365D0CD7A}" presName="space" presStyleCnt="0"/>
      <dgm:spPr/>
    </dgm:pt>
    <dgm:pt modelId="{8413E4C3-64F4-4300-9CA4-352E6639D9A7}" type="pres">
      <dgm:prSet presAssocID="{9518B057-BCD0-403C-BE9B-0BB5358414BC}" presName="composite" presStyleCnt="0"/>
      <dgm:spPr/>
    </dgm:pt>
    <dgm:pt modelId="{05BCC9B0-5D87-40DD-A0B7-239EA185508C}" type="pres">
      <dgm:prSet presAssocID="{9518B057-BCD0-403C-BE9B-0BB5358414B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E841900A-A6F9-4D5F-87A5-9EC0A2B57521}" type="pres">
      <dgm:prSet presAssocID="{9518B057-BCD0-403C-BE9B-0BB5358414BC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21BCB08-27C3-45DE-AA70-855BA9554E62}" type="presOf" srcId="{15549BD7-7755-46FE-BCD5-959FA6F0C8DB}" destId="{007A4450-3F28-46F6-AB18-5D35D589B698}" srcOrd="0" destOrd="0" presId="urn:microsoft.com/office/officeart/2005/8/layout/hList1"/>
    <dgm:cxn modelId="{0F96C715-27BA-4D09-B31F-5BEFEA8C69EB}" type="presOf" srcId="{E274DA70-D111-4143-B4F4-6452B014BA6E}" destId="{E841900A-A6F9-4D5F-87A5-9EC0A2B57521}" srcOrd="0" destOrd="1" presId="urn:microsoft.com/office/officeart/2005/8/layout/hList1"/>
    <dgm:cxn modelId="{E562C933-9EBB-4010-8AEB-019F67E4AA1E}" type="presOf" srcId="{FE92CC26-F860-48E8-8B83-0D447EBD90D2}" destId="{06F660A6-BB8F-43EC-AC2F-6D91937050B1}" srcOrd="0" destOrd="0" presId="urn:microsoft.com/office/officeart/2005/8/layout/hList1"/>
    <dgm:cxn modelId="{42A4F539-31B0-457C-A22C-56D5A2B7D934}" type="presOf" srcId="{3CD9C99D-E5EC-4CD6-B988-50542033FCB1}" destId="{9791289B-8B6A-4707-832D-9E4FC8DE8E9B}" srcOrd="0" destOrd="0" presId="urn:microsoft.com/office/officeart/2005/8/layout/hList1"/>
    <dgm:cxn modelId="{83397F3B-362C-4840-AFCB-FF277AE2C2C0}" srcId="{6902EEB3-B69E-48A2-B95A-A5DD66F234BF}" destId="{361D93D8-889C-44A6-BB2D-5775EF09DBA0}" srcOrd="1" destOrd="0" parTransId="{86326AA4-649B-4E07-915C-30E59C713A2C}" sibTransId="{1213F9C6-0B6E-474A-AC88-0EF1BC5F13C8}"/>
    <dgm:cxn modelId="{8F35E843-629C-4620-BB21-235FC92E2256}" srcId="{3CD9C99D-E5EC-4CD6-B988-50542033FCB1}" destId="{FE92CC26-F860-48E8-8B83-0D447EBD90D2}" srcOrd="0" destOrd="0" parTransId="{ACC33CC3-82C6-4D12-B935-7AFA80937709}" sibTransId="{A9B72480-A657-454B-9EBC-0739F9A1B10F}"/>
    <dgm:cxn modelId="{3804144E-177D-495F-90FE-E9FC65E712AD}" type="presOf" srcId="{6902EEB3-B69E-48A2-B95A-A5DD66F234BF}" destId="{B93ADBB0-49DC-48C5-B7B4-6FF7C62BB246}" srcOrd="0" destOrd="0" presId="urn:microsoft.com/office/officeart/2005/8/layout/hList1"/>
    <dgm:cxn modelId="{B8661260-2615-4E11-A623-A2EC99F86441}" srcId="{6902EEB3-B69E-48A2-B95A-A5DD66F234BF}" destId="{15549BD7-7755-46FE-BCD5-959FA6F0C8DB}" srcOrd="2" destOrd="0" parTransId="{2B1630E9-DCEF-444B-9AC1-419088AC6A46}" sibTransId="{614BE54E-8B7F-40A5-9054-C66365D0CD7A}"/>
    <dgm:cxn modelId="{B75DC56B-CB15-4777-980A-EE2F867939F5}" srcId="{361D93D8-889C-44A6-BB2D-5775EF09DBA0}" destId="{D284D273-AE6C-4E21-8FEC-45A6E178F5ED}" srcOrd="0" destOrd="0" parTransId="{8E61F4BD-F834-4128-B3B5-0E4B53058199}" sibTransId="{04D532FD-CFEE-44E4-9BFD-5DE894C674B9}"/>
    <dgm:cxn modelId="{E3EEAE7A-92EF-4F3B-B7FF-A3BB2F2DE1F2}" srcId="{9518B057-BCD0-403C-BE9B-0BB5358414BC}" destId="{E274DA70-D111-4143-B4F4-6452B014BA6E}" srcOrd="1" destOrd="0" parTransId="{8BD2A33B-DB50-4C3D-AB07-FA8263840DE4}" sibTransId="{00556B5A-5CD8-4C26-A2C0-B47AF29ACB9E}"/>
    <dgm:cxn modelId="{6F397083-71A7-46A3-B2A9-5799CDD0A386}" srcId="{15549BD7-7755-46FE-BCD5-959FA6F0C8DB}" destId="{123160A2-F1BC-45E7-9E32-E67F2FC43FDB}" srcOrd="0" destOrd="0" parTransId="{5E6ACCFF-80AA-411E-A86A-5C24913795B6}" sibTransId="{C6862A75-0FBD-41DE-B671-2D3EA01EEA0C}"/>
    <dgm:cxn modelId="{0A56A593-C51B-4642-9C60-940193106D6F}" type="presOf" srcId="{361D93D8-889C-44A6-BB2D-5775EF09DBA0}" destId="{08A6A45A-0D61-4BD6-A071-09AB3661C2A8}" srcOrd="0" destOrd="0" presId="urn:microsoft.com/office/officeart/2005/8/layout/hList1"/>
    <dgm:cxn modelId="{594DE59F-256C-4EC0-858C-AF24EBB2FD97}" srcId="{9518B057-BCD0-403C-BE9B-0BB5358414BC}" destId="{001E9237-3A98-4D9D-8C7A-16DE57191AD5}" srcOrd="0" destOrd="0" parTransId="{6A2C6E39-896D-4A12-9C23-37554413AB6C}" sibTransId="{559EF77C-A643-469C-B5E4-8F44A3972639}"/>
    <dgm:cxn modelId="{E431ABA3-27B5-499C-A14F-BFDF3F6B8E85}" type="presOf" srcId="{123160A2-F1BC-45E7-9E32-E67F2FC43FDB}" destId="{AC9F6621-4484-4913-9DD1-044E511386A7}" srcOrd="0" destOrd="0" presId="urn:microsoft.com/office/officeart/2005/8/layout/hList1"/>
    <dgm:cxn modelId="{7D77DEAF-7E02-40FB-B292-D224EFE3B3C3}" srcId="{9518B057-BCD0-403C-BE9B-0BB5358414BC}" destId="{F8DDA32F-BBC5-40EB-BC08-1A82EE0591B7}" srcOrd="2" destOrd="0" parTransId="{9EAA9B07-264C-45CA-9486-E609E7EDA028}" sibTransId="{EA0F8151-DD9C-4E45-B76A-F670AFAC63D1}"/>
    <dgm:cxn modelId="{0D33B1BC-151C-4821-A24F-2879831EF17B}" type="presOf" srcId="{D284D273-AE6C-4E21-8FEC-45A6E178F5ED}" destId="{C3307A89-D024-4FBC-B0E6-3FC85E775BF7}" srcOrd="0" destOrd="0" presId="urn:microsoft.com/office/officeart/2005/8/layout/hList1"/>
    <dgm:cxn modelId="{68629CCA-1AEB-44D5-BF65-D2904E0CAB19}" srcId="{6902EEB3-B69E-48A2-B95A-A5DD66F234BF}" destId="{3CD9C99D-E5EC-4CD6-B988-50542033FCB1}" srcOrd="0" destOrd="0" parTransId="{60CCD96A-3A7E-423C-8B71-60B14CDDEA87}" sibTransId="{E531FB77-78D1-4B16-969A-7C003BDC3B6D}"/>
    <dgm:cxn modelId="{5842E9D6-4FDA-4068-B9EB-3F1C8D4DB3BF}" type="presOf" srcId="{001E9237-3A98-4D9D-8C7A-16DE57191AD5}" destId="{E841900A-A6F9-4D5F-87A5-9EC0A2B57521}" srcOrd="0" destOrd="0" presId="urn:microsoft.com/office/officeart/2005/8/layout/hList1"/>
    <dgm:cxn modelId="{C61220D9-DAC7-403A-8987-D77846CF32C8}" type="presOf" srcId="{9518B057-BCD0-403C-BE9B-0BB5358414BC}" destId="{05BCC9B0-5D87-40DD-A0B7-239EA185508C}" srcOrd="0" destOrd="0" presId="urn:microsoft.com/office/officeart/2005/8/layout/hList1"/>
    <dgm:cxn modelId="{39AF0FE4-387C-4BB7-B431-B87753E195DF}" srcId="{6902EEB3-B69E-48A2-B95A-A5DD66F234BF}" destId="{9518B057-BCD0-403C-BE9B-0BB5358414BC}" srcOrd="3" destOrd="0" parTransId="{1F208F67-8C30-4E78-B738-97842FDDECED}" sibTransId="{AC47CD97-A587-4D4D-8508-350B0BD05E4A}"/>
    <dgm:cxn modelId="{05BA32FB-C7DA-4AD3-89DF-9BE3E0833071}" type="presOf" srcId="{F8DDA32F-BBC5-40EB-BC08-1A82EE0591B7}" destId="{E841900A-A6F9-4D5F-87A5-9EC0A2B57521}" srcOrd="0" destOrd="2" presId="urn:microsoft.com/office/officeart/2005/8/layout/hList1"/>
    <dgm:cxn modelId="{C63B5AFC-32FC-4520-9F3E-F7DCC49DD61A}" type="presParOf" srcId="{B93ADBB0-49DC-48C5-B7B4-6FF7C62BB246}" destId="{56D0CEB5-392B-456F-90E9-BD328E68AB62}" srcOrd="0" destOrd="0" presId="urn:microsoft.com/office/officeart/2005/8/layout/hList1"/>
    <dgm:cxn modelId="{2A70F089-E73A-4FED-B7A8-6406DE468ECE}" type="presParOf" srcId="{56D0CEB5-392B-456F-90E9-BD328E68AB62}" destId="{9791289B-8B6A-4707-832D-9E4FC8DE8E9B}" srcOrd="0" destOrd="0" presId="urn:microsoft.com/office/officeart/2005/8/layout/hList1"/>
    <dgm:cxn modelId="{92CE4C1E-3D70-4234-A2C9-D073AE0DDC99}" type="presParOf" srcId="{56D0CEB5-392B-456F-90E9-BD328E68AB62}" destId="{06F660A6-BB8F-43EC-AC2F-6D91937050B1}" srcOrd="1" destOrd="0" presId="urn:microsoft.com/office/officeart/2005/8/layout/hList1"/>
    <dgm:cxn modelId="{3219EA4E-40AA-4C4B-9BB8-994B9B6F91F6}" type="presParOf" srcId="{B93ADBB0-49DC-48C5-B7B4-6FF7C62BB246}" destId="{27A8F863-37EF-4877-9BB4-DA434CA6A613}" srcOrd="1" destOrd="0" presId="urn:microsoft.com/office/officeart/2005/8/layout/hList1"/>
    <dgm:cxn modelId="{76C3F076-9286-4FE9-AFF1-0D4F40FEEB28}" type="presParOf" srcId="{B93ADBB0-49DC-48C5-B7B4-6FF7C62BB246}" destId="{01EF8C5E-D621-4C82-B02D-8CBB35E78DB0}" srcOrd="2" destOrd="0" presId="urn:microsoft.com/office/officeart/2005/8/layout/hList1"/>
    <dgm:cxn modelId="{8B26EC24-FDD0-40DD-A975-12C63796C3E6}" type="presParOf" srcId="{01EF8C5E-D621-4C82-B02D-8CBB35E78DB0}" destId="{08A6A45A-0D61-4BD6-A071-09AB3661C2A8}" srcOrd="0" destOrd="0" presId="urn:microsoft.com/office/officeart/2005/8/layout/hList1"/>
    <dgm:cxn modelId="{360ECBC5-3953-420A-B94E-9207297556A5}" type="presParOf" srcId="{01EF8C5E-D621-4C82-B02D-8CBB35E78DB0}" destId="{C3307A89-D024-4FBC-B0E6-3FC85E775BF7}" srcOrd="1" destOrd="0" presId="urn:microsoft.com/office/officeart/2005/8/layout/hList1"/>
    <dgm:cxn modelId="{7D7224BF-9DCC-4070-88D6-5640880515B1}" type="presParOf" srcId="{B93ADBB0-49DC-48C5-B7B4-6FF7C62BB246}" destId="{025A7A6A-7F0A-49E6-9C50-7F8B6C789222}" srcOrd="3" destOrd="0" presId="urn:microsoft.com/office/officeart/2005/8/layout/hList1"/>
    <dgm:cxn modelId="{A742B05D-97F6-42AC-8A92-518DF31B0C2A}" type="presParOf" srcId="{B93ADBB0-49DC-48C5-B7B4-6FF7C62BB246}" destId="{CB723D4A-3641-4199-AA2C-0EEDE21C2003}" srcOrd="4" destOrd="0" presId="urn:microsoft.com/office/officeart/2005/8/layout/hList1"/>
    <dgm:cxn modelId="{C7F1F01A-B994-4E41-A4E3-512A3B53B444}" type="presParOf" srcId="{CB723D4A-3641-4199-AA2C-0EEDE21C2003}" destId="{007A4450-3F28-46F6-AB18-5D35D589B698}" srcOrd="0" destOrd="0" presId="urn:microsoft.com/office/officeart/2005/8/layout/hList1"/>
    <dgm:cxn modelId="{9F8E8D1E-8D6B-4D10-B14F-E2B062597978}" type="presParOf" srcId="{CB723D4A-3641-4199-AA2C-0EEDE21C2003}" destId="{AC9F6621-4484-4913-9DD1-044E511386A7}" srcOrd="1" destOrd="0" presId="urn:microsoft.com/office/officeart/2005/8/layout/hList1"/>
    <dgm:cxn modelId="{616D7E8C-53B2-4DC5-B3C2-321E68CA977E}" type="presParOf" srcId="{B93ADBB0-49DC-48C5-B7B4-6FF7C62BB246}" destId="{D8C043DE-9628-4673-A867-759E22697E9D}" srcOrd="5" destOrd="0" presId="urn:microsoft.com/office/officeart/2005/8/layout/hList1"/>
    <dgm:cxn modelId="{E1202A0C-7EE6-4DFB-9437-D26A316CFEFE}" type="presParOf" srcId="{B93ADBB0-49DC-48C5-B7B4-6FF7C62BB246}" destId="{8413E4C3-64F4-4300-9CA4-352E6639D9A7}" srcOrd="6" destOrd="0" presId="urn:microsoft.com/office/officeart/2005/8/layout/hList1"/>
    <dgm:cxn modelId="{B16794DE-8F2E-49F0-B435-7634AC25EB9A}" type="presParOf" srcId="{8413E4C3-64F4-4300-9CA4-352E6639D9A7}" destId="{05BCC9B0-5D87-40DD-A0B7-239EA185508C}" srcOrd="0" destOrd="0" presId="urn:microsoft.com/office/officeart/2005/8/layout/hList1"/>
    <dgm:cxn modelId="{C40E30F6-B6EB-46BA-84BC-039765D39E46}" type="presParOf" srcId="{8413E4C3-64F4-4300-9CA4-352E6639D9A7}" destId="{E841900A-A6F9-4D5F-87A5-9EC0A2B5752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F5FA3-A052-2A4A-9DC0-5A10F4642388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64C3C-8D22-D84D-9AA5-294663426F2F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/>
            <a:t>Our Project mimic  a production-grade AWS infrastructure system that demonstrates Site Reliability Engineering practices through automated deployment, multi-environment management, and comprehensive observability. </a:t>
          </a:r>
          <a:endParaRPr lang="en-US" sz="2200" kern="1200"/>
        </a:p>
      </dsp:txBody>
      <dsp:txXfrm>
        <a:off x="696297" y="538547"/>
        <a:ext cx="4171627" cy="2590157"/>
      </dsp:txXfrm>
    </dsp:sp>
    <dsp:sp modelId="{975E8046-29D3-C742-B7CD-E98210958B6E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F066D-3264-7240-A3B9-AA9134E9EED8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/>
            <a:t>The project implements a complete infrastructure-as-code solution using Terraform, with continuous deployment via GitHub Actions and a monitoring stack based on Prometheus and Grafana.</a:t>
          </a:r>
          <a:endParaRPr lang="en-US" sz="22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D3634-3921-493B-9047-957844CFC006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F3C0D-2B80-4345-A126-2A545118E32A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18F6C-2ACB-4608-8D87-17592EBBEC61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The CI/CD pipeline uses GitHub Actions to orchestrate infrastructure deployments across multiple environments (dev, uat, prod) and manage the monitoring stack. </a:t>
          </a:r>
          <a:endParaRPr lang="en-US" sz="2400" kern="1200"/>
        </a:p>
      </dsp:txBody>
      <dsp:txXfrm>
        <a:off x="1509882" y="708097"/>
        <a:ext cx="9005717" cy="1307257"/>
      </dsp:txXfrm>
    </dsp:sp>
    <dsp:sp modelId="{45815B3B-36BC-460A-B727-8533D946D06E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0CB2D-F49D-4F8D-8A7B-18D6A6903700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B05E7-09B3-415E-9F4A-01C11895277B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/>
            <a:t>The pipeline handles authentication via AWS OIDC, executes Terraform workflows, and enforces manual approval gates for production deployments.</a:t>
          </a:r>
          <a:endParaRPr lang="en-US" sz="2400" kern="1200"/>
        </a:p>
      </dsp:txBody>
      <dsp:txXfrm>
        <a:off x="1509882" y="2342169"/>
        <a:ext cx="9005717" cy="13072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396385-40B2-401C-A4F4-C56213BC9CE4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E9956-B2BA-4055-B833-306C6700E9F1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BA661-085A-4B9D-BE85-48EC7EE243B9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 overview of the monitoring infrastructure that collects metrics from all application environments (dev, uat, prod). </a:t>
          </a:r>
        </a:p>
      </dsp:txBody>
      <dsp:txXfrm>
        <a:off x="1437631" y="531"/>
        <a:ext cx="9077968" cy="1244702"/>
      </dsp:txXfrm>
    </dsp:sp>
    <dsp:sp modelId="{FC9E24C6-B3FC-46BC-89B2-96EEB55EA9DB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063EC-9369-4E83-AD21-B150789F42D6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90BEB-2241-4D6A-B816-152485197E41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system uses Prometheus for metric collection and storage, and Grafana for visualization, both running as containerized services on AWS ECS Fargate. </a:t>
          </a:r>
        </a:p>
      </dsp:txBody>
      <dsp:txXfrm>
        <a:off x="1437631" y="1556410"/>
        <a:ext cx="9077968" cy="1244702"/>
      </dsp:txXfrm>
    </dsp:sp>
    <dsp:sp modelId="{72101FCD-F6A9-48BB-A1A6-CA972ADFB144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50CD8-5D5F-4629-A29D-A69A1F324F3A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43CA5-D39C-426B-AB77-6F07E48C664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infrastructure is deployed in a dedicated monitoring VPC and uses EC2 service discovery to automatically detect and scrape metrics from application instances across all environments.</a:t>
          </a:r>
        </a:p>
      </dsp:txBody>
      <dsp:txXfrm>
        <a:off x="1437631" y="3112289"/>
        <a:ext cx="9077968" cy="12447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1289B-8B6A-4707-832D-9E4FC8DE8E9B}">
      <dsp:nvSpPr>
        <dsp:cNvPr id="0" name=""/>
        <dsp:cNvSpPr/>
      </dsp:nvSpPr>
      <dsp:spPr>
        <a:xfrm>
          <a:off x="4108" y="160050"/>
          <a:ext cx="2470500" cy="9520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Reliability by Design</a:t>
          </a:r>
          <a:endParaRPr lang="en-US" sz="1900" kern="1200"/>
        </a:p>
      </dsp:txBody>
      <dsp:txXfrm>
        <a:off x="4108" y="160050"/>
        <a:ext cx="2470500" cy="952024"/>
      </dsp:txXfrm>
    </dsp:sp>
    <dsp:sp modelId="{06F660A6-BB8F-43EC-AC2F-6D91937050B1}">
      <dsp:nvSpPr>
        <dsp:cNvPr id="0" name=""/>
        <dsp:cNvSpPr/>
      </dsp:nvSpPr>
      <dsp:spPr>
        <a:xfrm>
          <a:off x="4108" y="1112074"/>
          <a:ext cx="2470500" cy="29206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Infrastructure is fully automated using Terraform, ensuring consistent, repeatable, and low-risk EC2 deployments across environments.</a:t>
          </a:r>
        </a:p>
      </dsp:txBody>
      <dsp:txXfrm>
        <a:off x="4108" y="1112074"/>
        <a:ext cx="2470500" cy="2920680"/>
      </dsp:txXfrm>
    </dsp:sp>
    <dsp:sp modelId="{08A6A45A-0D61-4BD6-A071-09AB3661C2A8}">
      <dsp:nvSpPr>
        <dsp:cNvPr id="0" name=""/>
        <dsp:cNvSpPr/>
      </dsp:nvSpPr>
      <dsp:spPr>
        <a:xfrm>
          <a:off x="2820479" y="160050"/>
          <a:ext cx="2470500" cy="9520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Safe &amp; Controlled Change Management</a:t>
          </a:r>
          <a:endParaRPr lang="en-US" sz="1900" kern="1200"/>
        </a:p>
      </dsp:txBody>
      <dsp:txXfrm>
        <a:off x="2820479" y="160050"/>
        <a:ext cx="2470500" cy="952024"/>
      </dsp:txXfrm>
    </dsp:sp>
    <dsp:sp modelId="{C3307A89-D024-4FBC-B0E6-3FC85E775BF7}">
      <dsp:nvSpPr>
        <dsp:cNvPr id="0" name=""/>
        <dsp:cNvSpPr/>
      </dsp:nvSpPr>
      <dsp:spPr>
        <a:xfrm>
          <a:off x="2820479" y="1112074"/>
          <a:ext cx="2470500" cy="292068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CI/CD pipelines with environment separation and approval gates reduce deployment risk and prevent accidental production impact.</a:t>
          </a:r>
        </a:p>
      </dsp:txBody>
      <dsp:txXfrm>
        <a:off x="2820479" y="1112074"/>
        <a:ext cx="2470500" cy="2920680"/>
      </dsp:txXfrm>
    </dsp:sp>
    <dsp:sp modelId="{007A4450-3F28-46F6-AB18-5D35D589B698}">
      <dsp:nvSpPr>
        <dsp:cNvPr id="0" name=""/>
        <dsp:cNvSpPr/>
      </dsp:nvSpPr>
      <dsp:spPr>
        <a:xfrm>
          <a:off x="5636849" y="160050"/>
          <a:ext cx="2470500" cy="9520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Strong Observability Foundation</a:t>
          </a:r>
          <a:endParaRPr lang="en-US" sz="1900" kern="1200"/>
        </a:p>
      </dsp:txBody>
      <dsp:txXfrm>
        <a:off x="5636849" y="160050"/>
        <a:ext cx="2470500" cy="952024"/>
      </dsp:txXfrm>
    </dsp:sp>
    <dsp:sp modelId="{AC9F6621-4484-4913-9DD1-044E511386A7}">
      <dsp:nvSpPr>
        <dsp:cNvPr id="0" name=""/>
        <dsp:cNvSpPr/>
      </dsp:nvSpPr>
      <dsp:spPr>
        <a:xfrm>
          <a:off x="5636849" y="1112074"/>
          <a:ext cx="2470500" cy="29206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Centralized monitoring with Prometheus and Grafana enables proactive detection, performance visibility, and capacity planning.</a:t>
          </a:r>
        </a:p>
      </dsp:txBody>
      <dsp:txXfrm>
        <a:off x="5636849" y="1112074"/>
        <a:ext cx="2470500" cy="2920680"/>
      </dsp:txXfrm>
    </dsp:sp>
    <dsp:sp modelId="{05BCC9B0-5D87-40DD-A0B7-239EA185508C}">
      <dsp:nvSpPr>
        <dsp:cNvPr id="0" name=""/>
        <dsp:cNvSpPr/>
      </dsp:nvSpPr>
      <dsp:spPr>
        <a:xfrm>
          <a:off x="8453219" y="160050"/>
          <a:ext cx="2470500" cy="9520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Learning Experience</a:t>
          </a:r>
        </a:p>
      </dsp:txBody>
      <dsp:txXfrm>
        <a:off x="8453219" y="160050"/>
        <a:ext cx="2470500" cy="952024"/>
      </dsp:txXfrm>
    </dsp:sp>
    <dsp:sp modelId="{E841900A-A6F9-4D5F-87A5-9EC0A2B57521}">
      <dsp:nvSpPr>
        <dsp:cNvPr id="0" name=""/>
        <dsp:cNvSpPr/>
      </dsp:nvSpPr>
      <dsp:spPr>
        <a:xfrm>
          <a:off x="8453219" y="1112074"/>
          <a:ext cx="2470500" cy="29206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Time Management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 Issues with Coding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 AWS &amp; Infrastructure Issues</a:t>
          </a:r>
        </a:p>
      </dsp:txBody>
      <dsp:txXfrm>
        <a:off x="8453219" y="1112074"/>
        <a:ext cx="2470500" cy="2920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C4F9-11E1-F446-0A65-EFF78824A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874A5-2639-7270-8F08-1E7025C80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298A-3A51-D3D4-D3EE-DEB0931B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9AC56-EDE4-AD7E-829D-277969BE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8AFE3-3177-2DE4-FCEF-C50DC0E2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073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9DB2-F054-0321-27BD-4333A7CB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32DB4-37A7-0AFC-C565-42533C3BF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90971-1993-A282-D049-FC766B94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34723-79C1-08C0-AC7F-333964E2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544E7-8E99-AF0C-4F9D-F0AA8E69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10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DAB2-D67E-2CCC-A3AD-8A11354E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031FF-4AFA-24C3-3DB1-94A126B0C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941DC-2272-71E5-6ABB-0A2AF2A5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6252-30A7-1127-F53A-F1A026AB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7EA1-A1EC-9EE7-1A23-03A269AB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02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C7A9-1884-544F-8AF0-15F1DDB5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88B0-9165-BCB7-07F2-8B8A31CF3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11AD4-224D-D7DA-9B0C-8E61A0E04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AB9AB-76AC-3349-1318-53E40ED5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2F33-0934-1AC0-2675-C4A623D8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0F609-489B-CDA7-534E-DC45030C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557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A21E-31A0-08CD-1E7D-C5E50B61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4E547-8FA1-700E-CF92-E2676401E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4DB64-C6B9-1EC7-C7C1-6C9E1254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2D650-3DB5-FD5F-64C9-2CC2C6FC2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F1C7A-64FD-D54A-CD86-D1FA7EB54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FD18F0-24D8-C8F8-A485-9532F2D3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F6A15-F032-E2CF-881E-7F4ADE58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6AA7D-02EF-7C24-1358-2A06FC49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070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24C5-B1C7-78B4-30A9-09BB2F19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4F8B1-E996-A7CE-245A-E36115ED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283AA-6F4F-F01A-A2F7-B2A77CF4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7EE10-5FDE-529A-EA58-0F7C5C1A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775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E4BF5-4540-C572-54C0-2B975A6B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CE27A-8382-5ADB-A45E-6843FE48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064F-8924-246B-FE7C-BABDB8A0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758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82E5-76C9-325A-FC83-B9737E10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AB30F-0AC7-0529-7B06-6E84153F8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96087-7174-3532-B400-DAD0EAB63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AB743-F6F0-B802-D44C-8570E572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5906A-C546-314C-10AF-1A5FB64C0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11DEB-C517-23D0-908C-EED1AF91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786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F4DB-3BCE-6E00-0163-CEB3E2B7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FAFDD-B5C8-A9C6-5169-66ED5AE8B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B50E-5DDD-9B5E-92C2-6BB0B04FB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75AD8-6B02-AA8C-CFE2-4344F91D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3CB2F-6A37-BB6C-CEC7-D7CD0BAF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653F5-8CB4-B63A-3A1E-99E42E33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350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489A-8FBD-BC20-B3B0-8570FA32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5D35F-2958-2ECB-1315-951622BBF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665E5-2AFC-BA97-27F4-F0839CAD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C842-6A32-FFD9-5EB2-7B9A08F8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52985-46CC-76E7-D4B3-C863E92A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727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9861AD-072E-215D-0191-FAE20A067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5C741-B65D-C52E-F5AF-09F6EB922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F7A56-5503-A4A5-AB9C-722906F29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CF7B-00D3-017A-9A75-CF88EDF75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2EC82-5976-B36D-4D25-583A08F7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204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8EF59-C32E-5C32-751E-2562F260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1E57A-B9E3-C697-B507-0AC01E622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3A1D-D1C9-4217-4207-58B171DE1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003C5-C999-4069-9AAF-DC4E5ADB44A6}" type="datetimeFigureOut">
              <a:rPr lang="en-SG" smtClean="0"/>
              <a:t>26/12/25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FBD9A-9F1C-844A-E6C0-11916C949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0831E-FDF6-61DE-145D-1C0D03DF0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07973-91B4-452E-9CE2-57FE8C2F068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39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B2892-4110-5864-D9D3-CB0FDABC3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065" y="1463040"/>
            <a:ext cx="3796306" cy="26909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Group 2 Project</a:t>
            </a:r>
            <a:b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7D906-117E-8948-74E1-AA63FC8C2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 dirty="0"/>
              <a:t>SRE EC2 Project, a production grade AWS infrastructure system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Dave Mak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Ray Tan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Jia Fu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Thiam Seng</a:t>
            </a:r>
          </a:p>
        </p:txBody>
      </p:sp>
    </p:spTree>
    <p:extLst>
      <p:ext uri="{BB962C8B-B14F-4D97-AF65-F5344CB8AC3E}">
        <p14:creationId xmlns:p14="http://schemas.microsoft.com/office/powerpoint/2010/main" val="28825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C00B3-3C54-7B83-C4BB-6FD26B20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SG" sz="400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B2F7-83F9-A5F3-AD4E-8D8148A2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SG" sz="2000"/>
              <a:t>Introduction</a:t>
            </a:r>
          </a:p>
          <a:p>
            <a:r>
              <a:rPr lang="en-SG" sz="2000"/>
              <a:t>System Architecture</a:t>
            </a:r>
          </a:p>
          <a:p>
            <a:r>
              <a:rPr lang="en-SG" sz="2000"/>
              <a:t>CI/CD Pipeline &amp; Terraform</a:t>
            </a:r>
          </a:p>
          <a:p>
            <a:r>
              <a:rPr lang="en-SG" sz="2000"/>
              <a:t>AWS Infrastructure</a:t>
            </a:r>
          </a:p>
          <a:p>
            <a:r>
              <a:rPr lang="en-SG" sz="2000"/>
              <a:t>Monitoring Infrastructure</a:t>
            </a:r>
          </a:p>
          <a:p>
            <a:r>
              <a:rPr lang="en-SG" sz="2000"/>
              <a:t>Demo</a:t>
            </a:r>
          </a:p>
          <a:p>
            <a:r>
              <a:rPr lang="en-SG" sz="2000"/>
              <a:t>Conclusion</a:t>
            </a:r>
          </a:p>
          <a:p>
            <a:r>
              <a:rPr lang="en-SG" sz="2000"/>
              <a:t>Q &amp; A</a:t>
            </a:r>
          </a:p>
        </p:txBody>
      </p:sp>
      <p:pic>
        <p:nvPicPr>
          <p:cNvPr id="5" name="Picture 4" descr="Sunset silhouette of scaffolding in construction site">
            <a:extLst>
              <a:ext uri="{FF2B5EF4-FFF2-40B4-BE49-F238E27FC236}">
                <a16:creationId xmlns:a16="http://schemas.microsoft.com/office/drawing/2014/main" id="{6D3A4493-EFB9-F73E-F744-4E475DB4B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09" r="2215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391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8D6ED-33AE-8D15-692D-0018B172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SG" sz="4800"/>
              <a:t>Introduction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4273C7-688F-776B-5F85-63472DD26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61191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980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0692D-3CDE-3258-99E4-47BE0E12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8532F3-D135-5FCD-C1BF-4055125C3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944" y="640080"/>
            <a:ext cx="7039515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1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C360D-6772-C02D-5685-C28E326D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 Systems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B53F45-13EC-252C-AFD1-C8D70D2A1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2456233"/>
            <a:ext cx="7347537" cy="282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78542-9D7E-0AF6-A379-4A818949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SG"/>
              <a:t>CI/CD Pipeline &amp; Terraform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27126FA-16C5-392A-5442-88D8997FD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38387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431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F247B-51A1-555E-68D4-F2EF42DD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CI/CD Pipeline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E2055-45F7-951D-FD7B-1A76A31571D0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workflow follows the same foundational pattern: authenticate to AWS via OIDC, initialize Terraform with environment-specific backend configuration, validate and plan infrastructure changes, and apply the changes after appropriate approvals.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09E98-0ED3-663D-7121-0A2F99D87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1532" y="3395014"/>
            <a:ext cx="5150277" cy="189272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895B3-0FDC-82DF-F7D2-351D33DC03DE}"/>
              </a:ext>
            </a:extLst>
          </p:cNvPr>
          <p:cNvSpPr txBox="1"/>
          <p:nvPr/>
        </p:nvSpPr>
        <p:spPr>
          <a:xfrm>
            <a:off x="5370499" y="767803"/>
            <a:ext cx="6172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CI/CD system consists of three primary GitHub Actions workflows that automate infrastructure provisioning and updates:</a:t>
            </a:r>
          </a:p>
        </p:txBody>
      </p:sp>
    </p:spTree>
    <p:extLst>
      <p:ext uri="{BB962C8B-B14F-4D97-AF65-F5344CB8AC3E}">
        <p14:creationId xmlns:p14="http://schemas.microsoft.com/office/powerpoint/2010/main" val="234444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56C52-614A-DC5B-2097-91F99ABC0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CI/CD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1113C8-75AE-6D6F-A38F-84B6B9DCA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324757"/>
            <a:ext cx="7188199" cy="420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1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EF160-6CDA-AFBC-C73D-A448BDCE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SG" sz="4800"/>
              <a:t>Backend Bootstrap 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6C76-8080-7B45-FEB0-EF83A28DE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This is a one-time setup process for provisioning the foundational Terraform backend infrastructure. </a:t>
            </a:r>
          </a:p>
          <a:p>
            <a:pPr marL="0" indent="0">
              <a:buNone/>
            </a:pPr>
            <a:r>
              <a:rPr lang="en-US" sz="2000"/>
              <a:t>The bootstrap process creates the S3 buckets and DynamoDB table required for remote state storage and state locking across all Terraform deployments in the project.</a:t>
            </a:r>
            <a:endParaRPr lang="en-SG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2574A-BAB2-F06B-7C3E-CDA26EE30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73121"/>
            <a:ext cx="5150277" cy="253651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47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64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3992A-848C-7973-FA85-030BEFC8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Backend Bootstrap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B89CB1-B376-5466-D574-F62A9CEA0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729094"/>
            <a:ext cx="7188199" cy="339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16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E96EA-23BC-F8DC-D547-A27676B14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SG" sz="4800"/>
              <a:t>Application Overview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6827-940C-6A45-641C-B8DD69978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SG" sz="2000" dirty="0"/>
              <a:t>The application infrastructure consists of EC2 instances deployed into a VPC with public subnets across multiple availability zones. </a:t>
            </a:r>
          </a:p>
          <a:p>
            <a:pPr marL="0" indent="0">
              <a:buNone/>
            </a:pPr>
            <a:r>
              <a:rPr lang="en-SG" sz="2000" dirty="0"/>
              <a:t>Each instance runs Node Exporter for metrics collection and is configured with appropriate security groups for HTTP, SSH, and metrics access.</a:t>
            </a:r>
          </a:p>
          <a:p>
            <a:pPr marL="0" indent="0">
              <a:buNone/>
            </a:pPr>
            <a:endParaRPr lang="en-S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88C91-6F59-E32D-270E-CADC10A7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194684"/>
            <a:ext cx="9960637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2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4BD32-1A27-ECBC-7787-25CFAD3FB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AWS Infrastructure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CDF08-1AFE-53AA-B56F-10DCA6B69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532" y="1675227"/>
            <a:ext cx="971093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49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7786E-D443-7AD6-0B9F-D808FB35D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Network Security Model – Access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8E9D8E-C37F-23F9-6346-6C81D9DF6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904874"/>
            <a:ext cx="7347537" cy="304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64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0EA4D-8E18-77C4-FF51-1AE8B1A3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SG" dirty="0"/>
              <a:t>Monitoring Infrastructure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431DF6-F4FC-3EBD-00A6-FB3AD4226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89564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7507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BB85-1B93-9737-973F-BB717BDB7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Monitoring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88A8B8-54D8-E9B5-8BC0-17A174233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529239"/>
            <a:ext cx="6780700" cy="37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96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407C7-287D-AF01-C118-A5F56A24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r>
              <a:rPr lang="en-SG" sz="3600">
                <a:solidFill>
                  <a:schemeClr val="tx2"/>
                </a:solidFill>
              </a:rPr>
              <a:t>Dockers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7170C-12CD-2D6B-6E94-FFB6F12EA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The monitoring infrastructure uses two primary container images deployed on ECS Fargate</a:t>
            </a:r>
          </a:p>
          <a:p>
            <a:endParaRPr lang="en-SG" sz="180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33C0A6-97C2-4C7D-CBB0-D908FB97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98" y="3560818"/>
            <a:ext cx="10366301" cy="11365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FB5CC3-CE30-C930-ED4E-2E318E906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88" y="2112264"/>
            <a:ext cx="10366300" cy="79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45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DC01A-68C3-4514-29DB-DC5164B0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b="1"/>
              <a:t>Operational Procedures</a:t>
            </a:r>
            <a:br>
              <a:rPr lang="en-US" b="1"/>
            </a:br>
            <a:endParaRPr lang="en-US" dirty="0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817F55-58A6-FCD8-F50F-383374E6B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0579" y="423907"/>
            <a:ext cx="5997995" cy="2016369"/>
          </a:xfrm>
          <a:prstGeom prst="rect">
            <a:avLst/>
          </a:prstGeom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A989BF-2328-EA78-E204-FB13E1DAA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42" y="2569464"/>
            <a:ext cx="4701516" cy="3678936"/>
          </a:xfrm>
          <a:prstGeom prst="rect">
            <a:avLst/>
          </a:prstGeom>
        </p:spPr>
      </p:pic>
      <p:pic>
        <p:nvPicPr>
          <p:cNvPr id="10" name="Picture 9" descr="A screenshot of a white box&#10;&#10;AI-generated content may be incorrect.">
            <a:extLst>
              <a:ext uri="{FF2B5EF4-FFF2-40B4-BE49-F238E27FC236}">
                <a16:creationId xmlns:a16="http://schemas.microsoft.com/office/drawing/2014/main" id="{48BCE09B-BF8C-741C-25FB-4BFEAEF28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253793"/>
            <a:ext cx="5468112" cy="231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28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137397"/>
            <a:ext cx="12192000" cy="1720601"/>
          </a:xfrm>
          <a:prstGeom prst="rect">
            <a:avLst/>
          </a:prstGeom>
          <a:ln>
            <a:noFill/>
          </a:ln>
          <a:effectLst>
            <a:outerShdw blurRad="254000" dist="127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B9C57-D0FE-133D-FBD8-0F6FADE2F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5505709"/>
            <a:ext cx="7015500" cy="10194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DEMO</a:t>
            </a:r>
          </a:p>
        </p:txBody>
      </p:sp>
      <p:pic>
        <p:nvPicPr>
          <p:cNvPr id="5" name="Picture 4" descr="Camera lens close up">
            <a:extLst>
              <a:ext uri="{FF2B5EF4-FFF2-40B4-BE49-F238E27FC236}">
                <a16:creationId xmlns:a16="http://schemas.microsoft.com/office/drawing/2014/main" id="{B8EA2619-E1CA-7195-0935-A27DE9F92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96" b="5577"/>
          <a:stretch>
            <a:fillRect/>
          </a:stretch>
        </p:blipFill>
        <p:spPr>
          <a:xfrm>
            <a:off x="20" y="10"/>
            <a:ext cx="12191979" cy="5137387"/>
          </a:xfrm>
          <a:prstGeom prst="rect">
            <a:avLst/>
          </a:prstGeom>
          <a:effectLst>
            <a:outerShdw blurRad="190500" dist="63500" dir="5400000" sx="98000" sy="98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260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E0A41-8500-3C33-17D2-60604FBE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E5427E-B33B-28E6-4029-A5E4DF25C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7900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9993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uestion mark against red wall">
            <a:extLst>
              <a:ext uri="{FF2B5EF4-FFF2-40B4-BE49-F238E27FC236}">
                <a16:creationId xmlns:a16="http://schemas.microsoft.com/office/drawing/2014/main" id="{4CABD0C2-A4CA-4B57-C998-BBD4C287B1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702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D7EDEB-49A6-FCC4-EE7B-F96DADDEB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A1075-FE34-C814-6813-73667AE07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2</a:t>
            </a:r>
          </a:p>
        </p:txBody>
      </p:sp>
    </p:spTree>
    <p:extLst>
      <p:ext uri="{BB962C8B-B14F-4D97-AF65-F5344CB8AC3E}">
        <p14:creationId xmlns:p14="http://schemas.microsoft.com/office/powerpoint/2010/main" val="1614523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491</Words>
  <Application>Microsoft Macintosh PowerPoint</Application>
  <PresentationFormat>Widescreen</PresentationFormat>
  <Paragraphs>58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Group 2 Project </vt:lpstr>
      <vt:lpstr>Agenda</vt:lpstr>
      <vt:lpstr>Introduction</vt:lpstr>
      <vt:lpstr>System Architecture</vt:lpstr>
      <vt:lpstr>Sub Systems</vt:lpstr>
      <vt:lpstr>CI/CD Pipeline &amp; Terraform</vt:lpstr>
      <vt:lpstr>CI/CD Pipeline</vt:lpstr>
      <vt:lpstr>CI/CD Architecture</vt:lpstr>
      <vt:lpstr>Backend Bootstrap Process</vt:lpstr>
      <vt:lpstr>Backend Bootstrap Process</vt:lpstr>
      <vt:lpstr>Application Overview</vt:lpstr>
      <vt:lpstr>AWS Infrastructure</vt:lpstr>
      <vt:lpstr>Network Security Model – Access Control</vt:lpstr>
      <vt:lpstr>Monitoring Infrastructure</vt:lpstr>
      <vt:lpstr>Monitoring Architecture</vt:lpstr>
      <vt:lpstr>Dockers</vt:lpstr>
      <vt:lpstr>Operational Procedures </vt:lpstr>
      <vt:lpstr>DEMO</vt:lpstr>
      <vt:lpstr>Conclusion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 Thiam Seng</dc:creator>
  <cp:lastModifiedBy>SOH THIAM SENG</cp:lastModifiedBy>
  <cp:revision>9</cp:revision>
  <dcterms:created xsi:type="dcterms:W3CDTF">2025-12-26T04:40:59Z</dcterms:created>
  <dcterms:modified xsi:type="dcterms:W3CDTF">2025-12-26T13:51:22Z</dcterms:modified>
</cp:coreProperties>
</file>